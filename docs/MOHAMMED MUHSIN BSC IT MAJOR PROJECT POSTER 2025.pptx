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0275213" cy="21383625"/>
  <p:notesSz cx="9926638" cy="14355763"/>
  <p:defaultTextStyle>
    <a:defPPr>
      <a:defRPr lang="en-US"/>
    </a:defPPr>
    <a:lvl1pPr marL="0" algn="l" defTabSz="2951755" rtl="0" eaLnBrk="1" latinLnBrk="0" hangingPunct="1">
      <a:defRPr sz="5802" kern="1200">
        <a:solidFill>
          <a:schemeClr val="tx1"/>
        </a:solidFill>
        <a:latin typeface="+mn-lt"/>
        <a:ea typeface="+mn-ea"/>
        <a:cs typeface="+mn-cs"/>
      </a:defRPr>
    </a:lvl1pPr>
    <a:lvl2pPr marL="1475877" algn="l" defTabSz="2951755" rtl="0" eaLnBrk="1" latinLnBrk="0" hangingPunct="1">
      <a:defRPr sz="5802" kern="1200">
        <a:solidFill>
          <a:schemeClr val="tx1"/>
        </a:solidFill>
        <a:latin typeface="+mn-lt"/>
        <a:ea typeface="+mn-ea"/>
        <a:cs typeface="+mn-cs"/>
      </a:defRPr>
    </a:lvl2pPr>
    <a:lvl3pPr marL="2951755" algn="l" defTabSz="2951755" rtl="0" eaLnBrk="1" latinLnBrk="0" hangingPunct="1">
      <a:defRPr sz="5802" kern="1200">
        <a:solidFill>
          <a:schemeClr val="tx1"/>
        </a:solidFill>
        <a:latin typeface="+mn-lt"/>
        <a:ea typeface="+mn-ea"/>
        <a:cs typeface="+mn-cs"/>
      </a:defRPr>
    </a:lvl3pPr>
    <a:lvl4pPr marL="4427632" algn="l" defTabSz="2951755" rtl="0" eaLnBrk="1" latinLnBrk="0" hangingPunct="1">
      <a:defRPr sz="5802" kern="1200">
        <a:solidFill>
          <a:schemeClr val="tx1"/>
        </a:solidFill>
        <a:latin typeface="+mn-lt"/>
        <a:ea typeface="+mn-ea"/>
        <a:cs typeface="+mn-cs"/>
      </a:defRPr>
    </a:lvl4pPr>
    <a:lvl5pPr marL="5903509" algn="l" defTabSz="2951755" rtl="0" eaLnBrk="1" latinLnBrk="0" hangingPunct="1">
      <a:defRPr sz="5802" kern="1200">
        <a:solidFill>
          <a:schemeClr val="tx1"/>
        </a:solidFill>
        <a:latin typeface="+mn-lt"/>
        <a:ea typeface="+mn-ea"/>
        <a:cs typeface="+mn-cs"/>
      </a:defRPr>
    </a:lvl5pPr>
    <a:lvl6pPr marL="7379386" algn="l" defTabSz="2951755" rtl="0" eaLnBrk="1" latinLnBrk="0" hangingPunct="1">
      <a:defRPr sz="5802" kern="1200">
        <a:solidFill>
          <a:schemeClr val="tx1"/>
        </a:solidFill>
        <a:latin typeface="+mn-lt"/>
        <a:ea typeface="+mn-ea"/>
        <a:cs typeface="+mn-cs"/>
      </a:defRPr>
    </a:lvl6pPr>
    <a:lvl7pPr marL="8855264" algn="l" defTabSz="2951755" rtl="0" eaLnBrk="1" latinLnBrk="0" hangingPunct="1">
      <a:defRPr sz="5802" kern="1200">
        <a:solidFill>
          <a:schemeClr val="tx1"/>
        </a:solidFill>
        <a:latin typeface="+mn-lt"/>
        <a:ea typeface="+mn-ea"/>
        <a:cs typeface="+mn-cs"/>
      </a:defRPr>
    </a:lvl7pPr>
    <a:lvl8pPr marL="10331141" algn="l" defTabSz="2951755" rtl="0" eaLnBrk="1" latinLnBrk="0" hangingPunct="1">
      <a:defRPr sz="5802" kern="1200">
        <a:solidFill>
          <a:schemeClr val="tx1"/>
        </a:solidFill>
        <a:latin typeface="+mn-lt"/>
        <a:ea typeface="+mn-ea"/>
        <a:cs typeface="+mn-cs"/>
      </a:defRPr>
    </a:lvl8pPr>
    <a:lvl9pPr marL="11807017" algn="l" defTabSz="2951755" rtl="0" eaLnBrk="1" latinLnBrk="0" hangingPunct="1">
      <a:defRPr sz="580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35"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2"/>
  </p:normalViewPr>
  <p:slideViewPr>
    <p:cSldViewPr>
      <p:cViewPr varScale="1">
        <p:scale>
          <a:sx n="25" d="100"/>
          <a:sy n="25" d="100"/>
        </p:scale>
        <p:origin x="1445" y="53"/>
      </p:cViewPr>
      <p:guideLst>
        <p:guide orient="horz" pos="6735"/>
        <p:guide pos="9536"/>
      </p:guideLst>
    </p:cSldViewPr>
  </p:slideViewPr>
  <p:notesTextViewPr>
    <p:cViewPr>
      <p:scale>
        <a:sx n="3" d="2"/>
        <a:sy n="3" d="2"/>
      </p:scale>
      <p:origin x="0" y="-3365"/>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ista jayanti" userId="dcfbfa53ae5b14f1" providerId="LiveId" clId="{7AE44B94-782D-48F5-AF5A-F0A2BDC0CBC1}"/>
    <pc:docChg chg="modSld">
      <pc:chgData name="visista jayanti" userId="dcfbfa53ae5b14f1" providerId="LiveId" clId="{7AE44B94-782D-48F5-AF5A-F0A2BDC0CBC1}" dt="2025-05-19T06:13:18.442" v="29" actId="20577"/>
      <pc:docMkLst>
        <pc:docMk/>
      </pc:docMkLst>
      <pc:sldChg chg="modSp mod">
        <pc:chgData name="visista jayanti" userId="dcfbfa53ae5b14f1" providerId="LiveId" clId="{7AE44B94-782D-48F5-AF5A-F0A2BDC0CBC1}" dt="2025-05-19T06:13:18.442" v="29" actId="20577"/>
        <pc:sldMkLst>
          <pc:docMk/>
          <pc:sldMk cId="2493011219" sldId="256"/>
        </pc:sldMkLst>
        <pc:spChg chg="mod">
          <ac:chgData name="visista jayanti" userId="dcfbfa53ae5b14f1" providerId="LiveId" clId="{7AE44B94-782D-48F5-AF5A-F0A2BDC0CBC1}" dt="2025-05-19T06:13:18.442" v="29" actId="20577"/>
          <ac:spMkLst>
            <pc:docMk/>
            <pc:sldMk cId="2493011219" sldId="256"/>
            <ac:spMk id="12" creationId="{187E1934-2218-CE55-58AB-78CEA25C7570}"/>
          </ac:spMkLst>
        </pc:spChg>
        <pc:spChg chg="mod">
          <ac:chgData name="visista jayanti" userId="dcfbfa53ae5b14f1" providerId="LiveId" clId="{7AE44B94-782D-48F5-AF5A-F0A2BDC0CBC1}" dt="2025-05-19T06:13:14.374" v="24" actId="20577"/>
          <ac:spMkLst>
            <pc:docMk/>
            <pc:sldMk cId="2493011219" sldId="256"/>
            <ac:spMk id="13" creationId="{70A1DC4E-B23B-FCA1-7208-44B59F7EFC45}"/>
          </ac:spMkLst>
        </pc:spChg>
        <pc:spChg chg="mod">
          <ac:chgData name="visista jayanti" userId="dcfbfa53ae5b14f1" providerId="LiveId" clId="{7AE44B94-782D-48F5-AF5A-F0A2BDC0CBC1}" dt="2025-05-19T06:13:04.575" v="14" actId="20577"/>
          <ac:spMkLst>
            <pc:docMk/>
            <pc:sldMk cId="2493011219" sldId="256"/>
            <ac:spMk id="23" creationId="{11607A9D-4FC0-E304-B070-CAD234C26445}"/>
          </ac:spMkLst>
        </pc:spChg>
        <pc:spChg chg="mod">
          <ac:chgData name="visista jayanti" userId="dcfbfa53ae5b14f1" providerId="LiveId" clId="{7AE44B94-782D-48F5-AF5A-F0A2BDC0CBC1}" dt="2025-05-19T06:13:08.263" v="19" actId="20577"/>
          <ac:spMkLst>
            <pc:docMk/>
            <pc:sldMk cId="2493011219" sldId="256"/>
            <ac:spMk id="24" creationId="{C7F80E6A-C01F-CBB3-A6B7-26C1E9F8D0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71913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5622925" y="0"/>
            <a:ext cx="4302125" cy="719138"/>
          </a:xfrm>
          <a:prstGeom prst="rect">
            <a:avLst/>
          </a:prstGeom>
        </p:spPr>
        <p:txBody>
          <a:bodyPr vert="horz" lIns="91440" tIns="45720" rIns="91440" bIns="45720" rtlCol="0"/>
          <a:lstStyle>
            <a:lvl1pPr algn="r">
              <a:defRPr sz="1200"/>
            </a:lvl1pPr>
          </a:lstStyle>
          <a:p>
            <a:fld id="{83B3FEAC-74D2-40EB-8A36-F4F549493C7D}" type="datetimeFigureOut">
              <a:rPr lang="en-AE" smtClean="0"/>
              <a:t>22/05/2025</a:t>
            </a:fld>
            <a:endParaRPr lang="en-AE"/>
          </a:p>
        </p:txBody>
      </p:sp>
      <p:sp>
        <p:nvSpPr>
          <p:cNvPr id="4" name="Slide Image Placeholder 3"/>
          <p:cNvSpPr>
            <a:spLocks noGrp="1" noRot="1" noChangeAspect="1"/>
          </p:cNvSpPr>
          <p:nvPr>
            <p:ph type="sldImg" idx="2"/>
          </p:nvPr>
        </p:nvSpPr>
        <p:spPr>
          <a:xfrm>
            <a:off x="1533525" y="1793875"/>
            <a:ext cx="6859588" cy="484505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992188" y="6908800"/>
            <a:ext cx="7942262" cy="5653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13636625"/>
            <a:ext cx="4302125" cy="719138"/>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5622925" y="13636625"/>
            <a:ext cx="4302125" cy="719138"/>
          </a:xfrm>
          <a:prstGeom prst="rect">
            <a:avLst/>
          </a:prstGeom>
        </p:spPr>
        <p:txBody>
          <a:bodyPr vert="horz" lIns="91440" tIns="45720" rIns="91440" bIns="45720" rtlCol="0" anchor="b"/>
          <a:lstStyle>
            <a:lvl1pPr algn="r">
              <a:defRPr sz="1200"/>
            </a:lvl1pPr>
          </a:lstStyle>
          <a:p>
            <a:fld id="{8FE026E6-0CFC-477F-8604-514E52F7D915}" type="slidenum">
              <a:rPr lang="en-AE" smtClean="0"/>
              <a:t>‹#›</a:t>
            </a:fld>
            <a:endParaRPr lang="en-AE"/>
          </a:p>
        </p:txBody>
      </p:sp>
    </p:spTree>
    <p:extLst>
      <p:ext uri="{BB962C8B-B14F-4D97-AF65-F5344CB8AC3E}">
        <p14:creationId xmlns:p14="http://schemas.microsoft.com/office/powerpoint/2010/main" val="3487811081"/>
      </p:ext>
    </p:extLst>
  </p:cSld>
  <p:clrMap bg1="lt1" tx1="dk1" bg2="lt2" tx2="dk2" accent1="accent1" accent2="accent2" accent3="accent3" accent4="accent4" accent5="accent5" accent6="accent6" hlink="hlink" folHlink="folHlink"/>
  <p:notesStyle>
    <a:lvl1pPr marL="0" algn="l" defTabSz="1294973" rtl="0" eaLnBrk="1" latinLnBrk="0" hangingPunct="1">
      <a:defRPr sz="1699" kern="1200">
        <a:solidFill>
          <a:schemeClr val="tx1"/>
        </a:solidFill>
        <a:latin typeface="+mn-lt"/>
        <a:ea typeface="+mn-ea"/>
        <a:cs typeface="+mn-cs"/>
      </a:defRPr>
    </a:lvl1pPr>
    <a:lvl2pPr marL="647487" algn="l" defTabSz="1294973" rtl="0" eaLnBrk="1" latinLnBrk="0" hangingPunct="1">
      <a:defRPr sz="1699" kern="1200">
        <a:solidFill>
          <a:schemeClr val="tx1"/>
        </a:solidFill>
        <a:latin typeface="+mn-lt"/>
        <a:ea typeface="+mn-ea"/>
        <a:cs typeface="+mn-cs"/>
      </a:defRPr>
    </a:lvl2pPr>
    <a:lvl3pPr marL="1294973" algn="l" defTabSz="1294973" rtl="0" eaLnBrk="1" latinLnBrk="0" hangingPunct="1">
      <a:defRPr sz="1699" kern="1200">
        <a:solidFill>
          <a:schemeClr val="tx1"/>
        </a:solidFill>
        <a:latin typeface="+mn-lt"/>
        <a:ea typeface="+mn-ea"/>
        <a:cs typeface="+mn-cs"/>
      </a:defRPr>
    </a:lvl3pPr>
    <a:lvl4pPr marL="1942460" algn="l" defTabSz="1294973" rtl="0" eaLnBrk="1" latinLnBrk="0" hangingPunct="1">
      <a:defRPr sz="1699" kern="1200">
        <a:solidFill>
          <a:schemeClr val="tx1"/>
        </a:solidFill>
        <a:latin typeface="+mn-lt"/>
        <a:ea typeface="+mn-ea"/>
        <a:cs typeface="+mn-cs"/>
      </a:defRPr>
    </a:lvl4pPr>
    <a:lvl5pPr marL="2589947" algn="l" defTabSz="1294973" rtl="0" eaLnBrk="1" latinLnBrk="0" hangingPunct="1">
      <a:defRPr sz="1699" kern="1200">
        <a:solidFill>
          <a:schemeClr val="tx1"/>
        </a:solidFill>
        <a:latin typeface="+mn-lt"/>
        <a:ea typeface="+mn-ea"/>
        <a:cs typeface="+mn-cs"/>
      </a:defRPr>
    </a:lvl5pPr>
    <a:lvl6pPr marL="3237433" algn="l" defTabSz="1294973" rtl="0" eaLnBrk="1" latinLnBrk="0" hangingPunct="1">
      <a:defRPr sz="1699" kern="1200">
        <a:solidFill>
          <a:schemeClr val="tx1"/>
        </a:solidFill>
        <a:latin typeface="+mn-lt"/>
        <a:ea typeface="+mn-ea"/>
        <a:cs typeface="+mn-cs"/>
      </a:defRPr>
    </a:lvl6pPr>
    <a:lvl7pPr marL="3884920" algn="l" defTabSz="1294973" rtl="0" eaLnBrk="1" latinLnBrk="0" hangingPunct="1">
      <a:defRPr sz="1699" kern="1200">
        <a:solidFill>
          <a:schemeClr val="tx1"/>
        </a:solidFill>
        <a:latin typeface="+mn-lt"/>
        <a:ea typeface="+mn-ea"/>
        <a:cs typeface="+mn-cs"/>
      </a:defRPr>
    </a:lvl7pPr>
    <a:lvl8pPr marL="4532406" algn="l" defTabSz="1294973" rtl="0" eaLnBrk="1" latinLnBrk="0" hangingPunct="1">
      <a:defRPr sz="1699" kern="1200">
        <a:solidFill>
          <a:schemeClr val="tx1"/>
        </a:solidFill>
        <a:latin typeface="+mn-lt"/>
        <a:ea typeface="+mn-ea"/>
        <a:cs typeface="+mn-cs"/>
      </a:defRPr>
    </a:lvl8pPr>
    <a:lvl9pPr marL="5179893" algn="l" defTabSz="1294973" rtl="0" eaLnBrk="1" latinLnBrk="0" hangingPunct="1">
      <a:defRPr sz="16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33525" y="1793875"/>
            <a:ext cx="6859588" cy="4845050"/>
          </a:xfrm>
        </p:spPr>
      </p:sp>
      <p:sp>
        <p:nvSpPr>
          <p:cNvPr id="3" name="Notes Placeholder 2"/>
          <p:cNvSpPr>
            <a:spLocks noGrp="1"/>
          </p:cNvSpPr>
          <p:nvPr>
            <p:ph type="body" idx="1"/>
          </p:nvPr>
        </p:nvSpPr>
        <p:spPr/>
        <p:txBody>
          <a:bodyPr/>
          <a:lstStyle/>
          <a:p>
            <a:pPr>
              <a:buNone/>
            </a:pPr>
            <a:r>
              <a:rPr lang="en-US" b="1" dirty="0"/>
              <a:t>1st</a:t>
            </a:r>
          </a:p>
          <a:p>
            <a:pPr>
              <a:buNone/>
            </a:pPr>
            <a:r>
              <a:rPr lang="en-US" b="1" dirty="0"/>
              <a:t>Good morning to everyone present here. I’m Mohammed Muhsin, a final-year B.Sc. IT student from the Batch of 2022–2025.</a:t>
            </a:r>
            <a:br>
              <a:rPr lang="en-US" dirty="0"/>
            </a:br>
            <a:r>
              <a:rPr lang="en-US" dirty="0"/>
              <a:t>It’s a pleasure to present my major project titled:</a:t>
            </a:r>
          </a:p>
          <a:p>
            <a:pPr>
              <a:buNone/>
            </a:pPr>
            <a:r>
              <a:rPr lang="en-US" b="1" dirty="0"/>
              <a:t>‘E-Commerce Platform with IoT Smart Shelf and Chatbot for Live Inventory and Temperature Monitoring.’</a:t>
            </a:r>
            <a:endParaRPr lang="en-US" dirty="0"/>
          </a:p>
          <a:p>
            <a:r>
              <a:rPr lang="en-US" dirty="0"/>
              <a:t>This project brings together modern web technologies and IoT to build a smart, automated, and user-friendly e-commerce experience — both for customers and store administrators.</a:t>
            </a:r>
          </a:p>
          <a:p>
            <a:r>
              <a:rPr lang="en-US" b="1" dirty="0"/>
              <a:t>2nd</a:t>
            </a:r>
          </a:p>
          <a:p>
            <a:pPr>
              <a:buNone/>
            </a:pPr>
            <a:r>
              <a:rPr lang="en-AE" dirty="0"/>
              <a:t> </a:t>
            </a:r>
            <a:r>
              <a:rPr lang="en-US" dirty="0"/>
              <a:t>"The main objectives of my project are:</a:t>
            </a:r>
          </a:p>
          <a:p>
            <a:pPr>
              <a:buNone/>
            </a:pPr>
            <a:r>
              <a:rPr lang="en-US" dirty="0"/>
              <a:t>First, to build a feature-rich e-commerce website using the MERN stack, with secure user login, cart functionality, payments, and a chatbot to assist users with product search and recommendations.</a:t>
            </a:r>
          </a:p>
          <a:p>
            <a:pPr>
              <a:buNone/>
            </a:pPr>
            <a:r>
              <a:rPr lang="en-US" dirty="0"/>
              <a:t>Second, to develop an IoT-based smart shelf system using ESP32, sensors for real-time inventory and temperature monitoring.</a:t>
            </a:r>
          </a:p>
          <a:p>
            <a:r>
              <a:rPr lang="en-US" dirty="0"/>
              <a:t>And third, to integrate both systems so that the admin dashboard receives live shelf data — helping admins track product movement and shelf conditions automatically.“</a:t>
            </a:r>
          </a:p>
          <a:p>
            <a:r>
              <a:rPr lang="en-US" b="1" dirty="0"/>
              <a:t>3</a:t>
            </a:r>
            <a:r>
              <a:rPr lang="en-US" b="1" baseline="30000" dirty="0"/>
              <a:t>rd</a:t>
            </a:r>
            <a:endParaRPr lang="en-US" b="1" dirty="0"/>
          </a:p>
          <a:p>
            <a:pPr>
              <a:buNone/>
            </a:pPr>
            <a:r>
              <a:rPr lang="en-US" b="1" dirty="0"/>
              <a:t>“Here’s the tech stack used in my project.”</a:t>
            </a:r>
            <a:endParaRPr lang="en-US" dirty="0"/>
          </a:p>
          <a:p>
            <a:pPr>
              <a:buNone/>
            </a:pPr>
            <a:r>
              <a:rPr lang="en-AE" dirty="0"/>
              <a:t>🔹 </a:t>
            </a:r>
            <a:r>
              <a:rPr lang="en-US" b="1" dirty="0"/>
              <a:t>Frontend:</a:t>
            </a:r>
            <a:r>
              <a:rPr lang="en-US" dirty="0"/>
              <a:t> Built with </a:t>
            </a:r>
            <a:r>
              <a:rPr lang="en-US" b="1" dirty="0"/>
              <a:t>React.js</a:t>
            </a:r>
            <a:r>
              <a:rPr lang="en-US" dirty="0"/>
              <a:t>, styled using </a:t>
            </a:r>
            <a:r>
              <a:rPr lang="en-US" b="1" dirty="0"/>
              <a:t>CSS</a:t>
            </a:r>
            <a:r>
              <a:rPr lang="en-US" dirty="0"/>
              <a:t>, with </a:t>
            </a:r>
            <a:r>
              <a:rPr lang="en-US" b="1" dirty="0"/>
              <a:t>Axios</a:t>
            </a:r>
            <a:r>
              <a:rPr lang="en-US" dirty="0"/>
              <a:t> for API calls and </a:t>
            </a:r>
            <a:r>
              <a:rPr lang="en-US" b="1" dirty="0"/>
              <a:t>React Router</a:t>
            </a:r>
            <a:r>
              <a:rPr lang="en-US" dirty="0"/>
              <a:t> for navigation.</a:t>
            </a:r>
          </a:p>
          <a:p>
            <a:pPr>
              <a:buNone/>
            </a:pPr>
            <a:r>
              <a:rPr lang="en-AE" dirty="0"/>
              <a:t>🔹 </a:t>
            </a:r>
            <a:r>
              <a:rPr lang="en-US" b="1" dirty="0"/>
              <a:t>Backend:</a:t>
            </a:r>
            <a:r>
              <a:rPr lang="en-US" dirty="0"/>
              <a:t> Developed using </a:t>
            </a:r>
            <a:r>
              <a:rPr lang="en-US" b="1" dirty="0"/>
              <a:t>Node.js</a:t>
            </a:r>
            <a:r>
              <a:rPr lang="en-US" dirty="0"/>
              <a:t> and </a:t>
            </a:r>
            <a:r>
              <a:rPr lang="en-US" b="1" dirty="0"/>
              <a:t>Express.js</a:t>
            </a:r>
            <a:r>
              <a:rPr lang="en-US" dirty="0"/>
              <a:t> to handle APIs, authentication, and database interaction.</a:t>
            </a:r>
          </a:p>
          <a:p>
            <a:pPr>
              <a:buNone/>
            </a:pPr>
            <a:r>
              <a:rPr lang="en-AE" dirty="0"/>
              <a:t>🔹 </a:t>
            </a:r>
            <a:r>
              <a:rPr lang="en-US" b="1" dirty="0"/>
              <a:t>Database:</a:t>
            </a:r>
            <a:r>
              <a:rPr lang="en-US" dirty="0"/>
              <a:t> Used </a:t>
            </a:r>
            <a:r>
              <a:rPr lang="en-US" b="1" dirty="0"/>
              <a:t>MongoDB Atlas</a:t>
            </a:r>
            <a:r>
              <a:rPr lang="en-US" dirty="0"/>
              <a:t> (cloud NoSQL) to store users, products, orders, and sensor data.</a:t>
            </a:r>
          </a:p>
          <a:p>
            <a:pPr>
              <a:buNone/>
            </a:pPr>
            <a:r>
              <a:rPr lang="en-AE" dirty="0"/>
              <a:t>🔹 </a:t>
            </a:r>
            <a:r>
              <a:rPr lang="en-US" b="1" dirty="0"/>
              <a:t>Security &amp; Auth:</a:t>
            </a:r>
            <a:r>
              <a:rPr lang="en-US" dirty="0"/>
              <a:t> Implemented </a:t>
            </a:r>
            <a:r>
              <a:rPr lang="en-US" b="1" dirty="0"/>
              <a:t>JWT</a:t>
            </a:r>
            <a:r>
              <a:rPr lang="en-US" dirty="0"/>
              <a:t> for secure login and </a:t>
            </a:r>
            <a:r>
              <a:rPr lang="en-US" b="1" dirty="0" err="1"/>
              <a:t>bcryptjs</a:t>
            </a:r>
            <a:r>
              <a:rPr lang="en-US" dirty="0"/>
              <a:t> to hash passwords.</a:t>
            </a:r>
          </a:p>
          <a:p>
            <a:pPr>
              <a:buNone/>
            </a:pPr>
            <a:r>
              <a:rPr lang="en-AE" dirty="0"/>
              <a:t>🔹 </a:t>
            </a:r>
            <a:r>
              <a:rPr lang="en-US" b="1" dirty="0"/>
              <a:t>Payments:</a:t>
            </a:r>
            <a:r>
              <a:rPr lang="en-US" dirty="0"/>
              <a:t> Integrated </a:t>
            </a:r>
            <a:r>
              <a:rPr lang="en-US" b="1" dirty="0"/>
              <a:t>Stripe</a:t>
            </a:r>
            <a:r>
              <a:rPr lang="en-US" dirty="0"/>
              <a:t> for secure online payment processing.</a:t>
            </a:r>
          </a:p>
          <a:p>
            <a:r>
              <a:rPr lang="en-AE" dirty="0"/>
              <a:t>🔹 </a:t>
            </a:r>
            <a:r>
              <a:rPr lang="en-US" b="1" dirty="0"/>
              <a:t>IoT:</a:t>
            </a:r>
            <a:r>
              <a:rPr lang="en-US" dirty="0"/>
              <a:t> Used </a:t>
            </a:r>
            <a:r>
              <a:rPr lang="en-US" b="1" dirty="0"/>
              <a:t>ESP32</a:t>
            </a:r>
            <a:r>
              <a:rPr lang="en-US" dirty="0"/>
              <a:t> with </a:t>
            </a:r>
            <a:r>
              <a:rPr lang="en-US" b="1" dirty="0"/>
              <a:t>RFID</a:t>
            </a:r>
            <a:r>
              <a:rPr lang="en-US" dirty="0"/>
              <a:t>, </a:t>
            </a:r>
            <a:r>
              <a:rPr lang="en-US" b="1" dirty="0"/>
              <a:t>Ultrasonic Sensor</a:t>
            </a:r>
            <a:r>
              <a:rPr lang="en-US" dirty="0"/>
              <a:t>, and </a:t>
            </a:r>
            <a:r>
              <a:rPr lang="en-US" b="1" dirty="0"/>
              <a:t>DHT11</a:t>
            </a:r>
            <a:r>
              <a:rPr lang="en-US" dirty="0"/>
              <a:t> to monitor shelf data and send it to the backend.</a:t>
            </a:r>
          </a:p>
          <a:p>
            <a:r>
              <a:rPr lang="en-US" b="1" dirty="0"/>
              <a:t>4rd</a:t>
            </a:r>
          </a:p>
          <a:p>
            <a:pPr>
              <a:buNone/>
            </a:pPr>
            <a:r>
              <a:rPr lang="en-US" dirty="0"/>
              <a:t>🧑‍💻 </a:t>
            </a:r>
            <a:r>
              <a:rPr lang="en-US" b="1" dirty="0"/>
              <a:t>User Side: Seamless Shopping Experience</a:t>
            </a:r>
            <a:br>
              <a:rPr lang="en-US" dirty="0"/>
            </a:br>
            <a:r>
              <a:rPr lang="en-US" dirty="0"/>
              <a:t>Users can securely log in or register, then browse products by category (Phones, Laptops, Accessories) or use the search bar. A built-in AI chatbot assists in filtering and recommending products based on brand, price, and specifications.</a:t>
            </a:r>
            <a:br>
              <a:rPr lang="en-US" dirty="0"/>
            </a:br>
            <a:r>
              <a:rPr lang="en-US" dirty="0"/>
              <a:t>Users can add items to their cart, adjust quantities, and complete a secure checkout. After payment, an order confirmation is shown, and the order is processed.</a:t>
            </a:r>
          </a:p>
          <a:p>
            <a:pPr>
              <a:buNone/>
            </a:pPr>
            <a:r>
              <a:rPr lang="en-US" dirty="0"/>
              <a:t>🛠️ </a:t>
            </a:r>
            <a:r>
              <a:rPr lang="en-US" b="1" dirty="0"/>
              <a:t>Admin Side: Full Control with Smart Shelf Monitoring</a:t>
            </a:r>
            <a:br>
              <a:rPr lang="en-US" dirty="0"/>
            </a:br>
            <a:r>
              <a:rPr lang="en-US" dirty="0"/>
              <a:t>Admins access a dedicated dashboard to manage users, products, and orders in real time.</a:t>
            </a:r>
            <a:br>
              <a:rPr lang="en-US" dirty="0"/>
            </a:br>
            <a:r>
              <a:rPr lang="en-US" dirty="0"/>
              <a:t>The dashboard also shows live data from smart shelves, including:</a:t>
            </a:r>
          </a:p>
          <a:p>
            <a:pPr>
              <a:buFont typeface="Arial" panose="020B0604020202020204" pitchFamily="34" charset="0"/>
              <a:buChar char="•"/>
            </a:pPr>
            <a:r>
              <a:rPr lang="en-US" dirty="0"/>
              <a:t>Product movement via RFID</a:t>
            </a:r>
          </a:p>
          <a:p>
            <a:pPr>
              <a:buFont typeface="Arial" panose="020B0604020202020204" pitchFamily="34" charset="0"/>
              <a:buChar char="•"/>
            </a:pPr>
            <a:r>
              <a:rPr lang="en-US" dirty="0"/>
              <a:t>Temperature and humidity data</a:t>
            </a:r>
          </a:p>
          <a:p>
            <a:pPr>
              <a:buFont typeface="Arial" panose="020B0604020202020204" pitchFamily="34" charset="0"/>
              <a:buChar char="•"/>
            </a:pPr>
            <a:r>
              <a:rPr lang="en-US" dirty="0"/>
              <a:t>Real-time availability status</a:t>
            </a:r>
          </a:p>
          <a:p>
            <a:pPr>
              <a:buFont typeface="Arial" panose="020B0604020202020204" pitchFamily="34" charset="0"/>
              <a:buChar char="•"/>
            </a:pPr>
            <a:r>
              <a:rPr lang="en-US" dirty="0"/>
              <a:t>Alerts with color codes: Green (Normal), Yellow (Warning), Red (Critical), along with timestamps</a:t>
            </a:r>
            <a:br>
              <a:rPr lang="en-US" dirty="0"/>
            </a:br>
            <a:r>
              <a:rPr lang="en-US" dirty="0"/>
              <a:t>This gives admins complete control and visibility for efficient management and restocking.</a:t>
            </a:r>
          </a:p>
          <a:p>
            <a:r>
              <a:rPr lang="en-US" b="1" dirty="0"/>
              <a:t>5</a:t>
            </a:r>
            <a:r>
              <a:rPr lang="en-US" b="1" baseline="30000" dirty="0"/>
              <a:t>th</a:t>
            </a:r>
            <a:endParaRPr lang="en-US" b="1" dirty="0"/>
          </a:p>
          <a:p>
            <a:pPr>
              <a:buNone/>
            </a:pPr>
            <a:r>
              <a:rPr lang="en-US" b="1" dirty="0"/>
              <a:t>🎯 Conclusion</a:t>
            </a:r>
          </a:p>
          <a:p>
            <a:pPr>
              <a:buNone/>
            </a:pPr>
            <a:r>
              <a:rPr lang="en-US" dirty="0"/>
              <a:t>“To conclude, this project successfully brings together a modern e-commerce platform with an IoT-enabled smart shelf system. It automates inventory monitoring, provides secure transactions, and improves user experience through features like an chatbot and real-time admin insights — making retail smarter and more efficient.”</a:t>
            </a:r>
          </a:p>
          <a:p>
            <a:pPr>
              <a:buNone/>
            </a:pPr>
            <a:r>
              <a:rPr lang="en-US" b="1" dirty="0"/>
              <a:t>🚀 Future Scope</a:t>
            </a:r>
          </a:p>
          <a:p>
            <a:r>
              <a:rPr lang="en-US" dirty="0"/>
              <a:t>“In the future, this system can be enhanced by adding push notifications for admins, predictive stock alerts using data analytics, multi-shelf support, and possibly deploying it on a larger scale for commercial use. We can also explore integration with mobile apps and voice-based assistants.”</a:t>
            </a:r>
          </a:p>
          <a:p>
            <a:endParaRPr lang="en-US" b="1" dirty="0"/>
          </a:p>
          <a:p>
            <a:endParaRPr lang="en-US" b="1" dirty="0"/>
          </a:p>
          <a:p>
            <a:endParaRPr lang="en-US" dirty="0"/>
          </a:p>
          <a:p>
            <a:endParaRPr lang="en-AE" dirty="0"/>
          </a:p>
        </p:txBody>
      </p:sp>
      <p:sp>
        <p:nvSpPr>
          <p:cNvPr id="4" name="Slide Number Placeholder 3"/>
          <p:cNvSpPr>
            <a:spLocks noGrp="1"/>
          </p:cNvSpPr>
          <p:nvPr>
            <p:ph type="sldNum" sz="quarter" idx="5"/>
          </p:nvPr>
        </p:nvSpPr>
        <p:spPr/>
        <p:txBody>
          <a:bodyPr/>
          <a:lstStyle/>
          <a:p>
            <a:fld id="{8FE026E6-0CFC-477F-8604-514E52F7D915}" type="slidenum">
              <a:rPr lang="en-AE" smtClean="0"/>
              <a:t>1</a:t>
            </a:fld>
            <a:endParaRPr lang="en-AE"/>
          </a:p>
        </p:txBody>
      </p:sp>
    </p:spTree>
    <p:extLst>
      <p:ext uri="{BB962C8B-B14F-4D97-AF65-F5344CB8AC3E}">
        <p14:creationId xmlns:p14="http://schemas.microsoft.com/office/powerpoint/2010/main" val="3793028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2" y="6642785"/>
            <a:ext cx="25733931" cy="4583620"/>
          </a:xfrm>
        </p:spPr>
        <p:txBody>
          <a:bodyPr/>
          <a:lstStyle/>
          <a:p>
            <a:r>
              <a:rPr lang="en-US"/>
              <a:t>Click to edit Master title style</a:t>
            </a:r>
          </a:p>
        </p:txBody>
      </p:sp>
      <p:sp>
        <p:nvSpPr>
          <p:cNvPr id="3" name="Subtitle 2"/>
          <p:cNvSpPr>
            <a:spLocks noGrp="1"/>
          </p:cNvSpPr>
          <p:nvPr>
            <p:ph type="subTitle" idx="1"/>
          </p:nvPr>
        </p:nvSpPr>
        <p:spPr>
          <a:xfrm>
            <a:off x="4541283" y="12117389"/>
            <a:ext cx="21192650" cy="5464704"/>
          </a:xfrm>
        </p:spPr>
        <p:txBody>
          <a:bodyPr/>
          <a:lstStyle>
            <a:lvl1pPr marL="0" indent="0" algn="ctr">
              <a:buNone/>
              <a:defRPr>
                <a:solidFill>
                  <a:schemeClr val="tx1">
                    <a:tint val="75000"/>
                  </a:schemeClr>
                </a:solidFill>
              </a:defRPr>
            </a:lvl1pPr>
            <a:lvl2pPr marL="986877" indent="0" algn="ctr">
              <a:buNone/>
              <a:defRPr>
                <a:solidFill>
                  <a:schemeClr val="tx1">
                    <a:tint val="75000"/>
                  </a:schemeClr>
                </a:solidFill>
              </a:defRPr>
            </a:lvl2pPr>
            <a:lvl3pPr marL="1973754" indent="0" algn="ctr">
              <a:buNone/>
              <a:defRPr>
                <a:solidFill>
                  <a:schemeClr val="tx1">
                    <a:tint val="75000"/>
                  </a:schemeClr>
                </a:solidFill>
              </a:defRPr>
            </a:lvl3pPr>
            <a:lvl4pPr marL="2960632" indent="0" algn="ctr">
              <a:buNone/>
              <a:defRPr>
                <a:solidFill>
                  <a:schemeClr val="tx1">
                    <a:tint val="75000"/>
                  </a:schemeClr>
                </a:solidFill>
              </a:defRPr>
            </a:lvl4pPr>
            <a:lvl5pPr marL="3947509" indent="0" algn="ctr">
              <a:buNone/>
              <a:defRPr>
                <a:solidFill>
                  <a:schemeClr val="tx1">
                    <a:tint val="75000"/>
                  </a:schemeClr>
                </a:solidFill>
              </a:defRPr>
            </a:lvl5pPr>
            <a:lvl6pPr marL="4934386" indent="0" algn="ctr">
              <a:buNone/>
              <a:defRPr>
                <a:solidFill>
                  <a:schemeClr val="tx1">
                    <a:tint val="75000"/>
                  </a:schemeClr>
                </a:solidFill>
              </a:defRPr>
            </a:lvl6pPr>
            <a:lvl7pPr marL="5921263" indent="0" algn="ctr">
              <a:buNone/>
              <a:defRPr>
                <a:solidFill>
                  <a:schemeClr val="tx1">
                    <a:tint val="75000"/>
                  </a:schemeClr>
                </a:solidFill>
              </a:defRPr>
            </a:lvl7pPr>
            <a:lvl8pPr marL="6908140" indent="0" algn="ctr">
              <a:buNone/>
              <a:defRPr>
                <a:solidFill>
                  <a:schemeClr val="tx1">
                    <a:tint val="75000"/>
                  </a:schemeClr>
                </a:solidFill>
              </a:defRPr>
            </a:lvl8pPr>
            <a:lvl9pPr marL="789501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2A6B08B-6657-4EA6-8D1D-2236F6792C69}"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633646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6B08B-6657-4EA6-8D1D-2236F6792C69}"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2102916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534" y="13740961"/>
            <a:ext cx="25733931" cy="4247026"/>
          </a:xfrm>
        </p:spPr>
        <p:txBody>
          <a:bodyPr anchor="t"/>
          <a:lstStyle>
            <a:lvl1pPr algn="l">
              <a:defRPr sz="8606" b="1" cap="all"/>
            </a:lvl1pPr>
          </a:lstStyle>
          <a:p>
            <a:r>
              <a:rPr lang="en-US"/>
              <a:t>Click to edit Master title style</a:t>
            </a:r>
          </a:p>
        </p:txBody>
      </p:sp>
      <p:sp>
        <p:nvSpPr>
          <p:cNvPr id="3" name="Text Placeholder 2"/>
          <p:cNvSpPr>
            <a:spLocks noGrp="1"/>
          </p:cNvSpPr>
          <p:nvPr>
            <p:ph type="body" idx="1"/>
          </p:nvPr>
        </p:nvSpPr>
        <p:spPr>
          <a:xfrm>
            <a:off x="2391534" y="9063295"/>
            <a:ext cx="25733931" cy="4677666"/>
          </a:xfrm>
        </p:spPr>
        <p:txBody>
          <a:bodyPr anchor="b"/>
          <a:lstStyle>
            <a:lvl1pPr marL="0" indent="0">
              <a:buNone/>
              <a:defRPr sz="4303">
                <a:solidFill>
                  <a:schemeClr val="tx1">
                    <a:tint val="75000"/>
                  </a:schemeClr>
                </a:solidFill>
              </a:defRPr>
            </a:lvl1pPr>
            <a:lvl2pPr marL="986877" indent="0">
              <a:buNone/>
              <a:defRPr sz="3880">
                <a:solidFill>
                  <a:schemeClr val="tx1">
                    <a:tint val="75000"/>
                  </a:schemeClr>
                </a:solidFill>
              </a:defRPr>
            </a:lvl2pPr>
            <a:lvl3pPr marL="1973754" indent="0">
              <a:buNone/>
              <a:defRPr sz="3456">
                <a:solidFill>
                  <a:schemeClr val="tx1">
                    <a:tint val="75000"/>
                  </a:schemeClr>
                </a:solidFill>
              </a:defRPr>
            </a:lvl3pPr>
            <a:lvl4pPr marL="2960632" indent="0">
              <a:buNone/>
              <a:defRPr sz="3033">
                <a:solidFill>
                  <a:schemeClr val="tx1">
                    <a:tint val="75000"/>
                  </a:schemeClr>
                </a:solidFill>
              </a:defRPr>
            </a:lvl4pPr>
            <a:lvl5pPr marL="3947509" indent="0">
              <a:buNone/>
              <a:defRPr sz="3033">
                <a:solidFill>
                  <a:schemeClr val="tx1">
                    <a:tint val="75000"/>
                  </a:schemeClr>
                </a:solidFill>
              </a:defRPr>
            </a:lvl5pPr>
            <a:lvl6pPr marL="4934386" indent="0">
              <a:buNone/>
              <a:defRPr sz="3033">
                <a:solidFill>
                  <a:schemeClr val="tx1">
                    <a:tint val="75000"/>
                  </a:schemeClr>
                </a:solidFill>
              </a:defRPr>
            </a:lvl6pPr>
            <a:lvl7pPr marL="5921263" indent="0">
              <a:buNone/>
              <a:defRPr sz="3033">
                <a:solidFill>
                  <a:schemeClr val="tx1">
                    <a:tint val="75000"/>
                  </a:schemeClr>
                </a:solidFill>
              </a:defRPr>
            </a:lvl7pPr>
            <a:lvl8pPr marL="6908140" indent="0">
              <a:buNone/>
              <a:defRPr sz="3033">
                <a:solidFill>
                  <a:schemeClr val="tx1">
                    <a:tint val="75000"/>
                  </a:schemeClr>
                </a:solidFill>
              </a:defRPr>
            </a:lvl8pPr>
            <a:lvl9pPr marL="7895017" indent="0">
              <a:buNone/>
              <a:defRPr sz="30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6B08B-6657-4EA6-8D1D-2236F6792C69}"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1930860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67566" y="15562529"/>
            <a:ext cx="40834743" cy="44009680"/>
          </a:xfrm>
        </p:spPr>
        <p:txBody>
          <a:bodyPr/>
          <a:lstStyle>
            <a:lvl1pPr>
              <a:defRPr sz="6066"/>
            </a:lvl1pPr>
            <a:lvl2pPr>
              <a:defRPr sz="5149"/>
            </a:lvl2pPr>
            <a:lvl3pPr>
              <a:defRPr sz="4303"/>
            </a:lvl3pPr>
            <a:lvl4pPr>
              <a:defRPr sz="3880"/>
            </a:lvl4pPr>
            <a:lvl5pPr>
              <a:defRPr sz="3880"/>
            </a:lvl5pPr>
            <a:lvl6pPr>
              <a:defRPr sz="3880"/>
            </a:lvl6pPr>
            <a:lvl7pPr>
              <a:defRPr sz="3880"/>
            </a:lvl7pPr>
            <a:lvl8pPr>
              <a:defRPr sz="3880"/>
            </a:lvl8pPr>
            <a:lvl9pPr>
              <a:defRPr sz="38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906893" y="15562529"/>
            <a:ext cx="40834746" cy="44009680"/>
          </a:xfrm>
        </p:spPr>
        <p:txBody>
          <a:bodyPr/>
          <a:lstStyle>
            <a:lvl1pPr>
              <a:defRPr sz="6066"/>
            </a:lvl1pPr>
            <a:lvl2pPr>
              <a:defRPr sz="5149"/>
            </a:lvl2pPr>
            <a:lvl3pPr>
              <a:defRPr sz="4303"/>
            </a:lvl3pPr>
            <a:lvl4pPr>
              <a:defRPr sz="3880"/>
            </a:lvl4pPr>
            <a:lvl5pPr>
              <a:defRPr sz="3880"/>
            </a:lvl5pPr>
            <a:lvl6pPr>
              <a:defRPr sz="3880"/>
            </a:lvl6pPr>
            <a:lvl7pPr>
              <a:defRPr sz="3880"/>
            </a:lvl7pPr>
            <a:lvl8pPr>
              <a:defRPr sz="3880"/>
            </a:lvl8pPr>
            <a:lvl9pPr>
              <a:defRPr sz="38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A6B08B-6657-4EA6-8D1D-2236F6792C69}"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1795353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762" y="856337"/>
            <a:ext cx="27247691" cy="35639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13761" y="4786569"/>
            <a:ext cx="13376811" cy="1994814"/>
          </a:xfrm>
        </p:spPr>
        <p:txBody>
          <a:bodyPr anchor="b"/>
          <a:lstStyle>
            <a:lvl1pPr marL="0" indent="0">
              <a:buNone/>
              <a:defRPr sz="5149" b="1"/>
            </a:lvl1pPr>
            <a:lvl2pPr marL="986877" indent="0">
              <a:buNone/>
              <a:defRPr sz="4303" b="1"/>
            </a:lvl2pPr>
            <a:lvl3pPr marL="1973754" indent="0">
              <a:buNone/>
              <a:defRPr sz="3880" b="1"/>
            </a:lvl3pPr>
            <a:lvl4pPr marL="2960632" indent="0">
              <a:buNone/>
              <a:defRPr sz="3456" b="1"/>
            </a:lvl4pPr>
            <a:lvl5pPr marL="3947509" indent="0">
              <a:buNone/>
              <a:defRPr sz="3456" b="1"/>
            </a:lvl5pPr>
            <a:lvl6pPr marL="4934386" indent="0">
              <a:buNone/>
              <a:defRPr sz="3456" b="1"/>
            </a:lvl6pPr>
            <a:lvl7pPr marL="5921263" indent="0">
              <a:buNone/>
              <a:defRPr sz="3456" b="1"/>
            </a:lvl7pPr>
            <a:lvl8pPr marL="6908140" indent="0">
              <a:buNone/>
              <a:defRPr sz="3456" b="1"/>
            </a:lvl8pPr>
            <a:lvl9pPr marL="7895017" indent="0">
              <a:buNone/>
              <a:defRPr sz="3456" b="1"/>
            </a:lvl9pPr>
          </a:lstStyle>
          <a:p>
            <a:pPr lvl="0"/>
            <a:r>
              <a:rPr lang="en-US"/>
              <a:t>Click to edit Master text styles</a:t>
            </a:r>
          </a:p>
        </p:txBody>
      </p:sp>
      <p:sp>
        <p:nvSpPr>
          <p:cNvPr id="4" name="Content Placeholder 3"/>
          <p:cNvSpPr>
            <a:spLocks noGrp="1"/>
          </p:cNvSpPr>
          <p:nvPr>
            <p:ph sz="half" idx="2"/>
          </p:nvPr>
        </p:nvSpPr>
        <p:spPr>
          <a:xfrm>
            <a:off x="1513761" y="6781380"/>
            <a:ext cx="13376811" cy="12320336"/>
          </a:xfrm>
        </p:spPr>
        <p:txBody>
          <a:bodyPr/>
          <a:lstStyle>
            <a:lvl1pPr>
              <a:defRPr sz="5149"/>
            </a:lvl1pPr>
            <a:lvl2pPr>
              <a:defRPr sz="4303"/>
            </a:lvl2pPr>
            <a:lvl3pPr>
              <a:defRPr sz="3880"/>
            </a:lvl3pPr>
            <a:lvl4pPr>
              <a:defRPr sz="3456"/>
            </a:lvl4pPr>
            <a:lvl5pPr>
              <a:defRPr sz="3456"/>
            </a:lvl5pPr>
            <a:lvl6pPr>
              <a:defRPr sz="3456"/>
            </a:lvl6pPr>
            <a:lvl7pPr>
              <a:defRPr sz="3456"/>
            </a:lvl7pPr>
            <a:lvl8pPr>
              <a:defRPr sz="3456"/>
            </a:lvl8pPr>
            <a:lvl9pPr>
              <a:defRPr sz="34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379390" y="4786569"/>
            <a:ext cx="13382064" cy="1994814"/>
          </a:xfrm>
        </p:spPr>
        <p:txBody>
          <a:bodyPr anchor="b"/>
          <a:lstStyle>
            <a:lvl1pPr marL="0" indent="0">
              <a:buNone/>
              <a:defRPr sz="5149" b="1"/>
            </a:lvl1pPr>
            <a:lvl2pPr marL="986877" indent="0">
              <a:buNone/>
              <a:defRPr sz="4303" b="1"/>
            </a:lvl2pPr>
            <a:lvl3pPr marL="1973754" indent="0">
              <a:buNone/>
              <a:defRPr sz="3880" b="1"/>
            </a:lvl3pPr>
            <a:lvl4pPr marL="2960632" indent="0">
              <a:buNone/>
              <a:defRPr sz="3456" b="1"/>
            </a:lvl4pPr>
            <a:lvl5pPr marL="3947509" indent="0">
              <a:buNone/>
              <a:defRPr sz="3456" b="1"/>
            </a:lvl5pPr>
            <a:lvl6pPr marL="4934386" indent="0">
              <a:buNone/>
              <a:defRPr sz="3456" b="1"/>
            </a:lvl6pPr>
            <a:lvl7pPr marL="5921263" indent="0">
              <a:buNone/>
              <a:defRPr sz="3456" b="1"/>
            </a:lvl7pPr>
            <a:lvl8pPr marL="6908140" indent="0">
              <a:buNone/>
              <a:defRPr sz="3456" b="1"/>
            </a:lvl8pPr>
            <a:lvl9pPr marL="7895017" indent="0">
              <a:buNone/>
              <a:defRPr sz="3456" b="1"/>
            </a:lvl9pPr>
          </a:lstStyle>
          <a:p>
            <a:pPr lvl="0"/>
            <a:r>
              <a:rPr lang="en-US"/>
              <a:t>Click to edit Master text styles</a:t>
            </a:r>
          </a:p>
        </p:txBody>
      </p:sp>
      <p:sp>
        <p:nvSpPr>
          <p:cNvPr id="6" name="Content Placeholder 5"/>
          <p:cNvSpPr>
            <a:spLocks noGrp="1"/>
          </p:cNvSpPr>
          <p:nvPr>
            <p:ph sz="quarter" idx="4"/>
          </p:nvPr>
        </p:nvSpPr>
        <p:spPr>
          <a:xfrm>
            <a:off x="15379390" y="6781380"/>
            <a:ext cx="13382064" cy="12320336"/>
          </a:xfrm>
        </p:spPr>
        <p:txBody>
          <a:bodyPr/>
          <a:lstStyle>
            <a:lvl1pPr>
              <a:defRPr sz="5149"/>
            </a:lvl1pPr>
            <a:lvl2pPr>
              <a:defRPr sz="4303"/>
            </a:lvl2pPr>
            <a:lvl3pPr>
              <a:defRPr sz="3880"/>
            </a:lvl3pPr>
            <a:lvl4pPr>
              <a:defRPr sz="3456"/>
            </a:lvl4pPr>
            <a:lvl5pPr>
              <a:defRPr sz="3456"/>
            </a:lvl5pPr>
            <a:lvl6pPr>
              <a:defRPr sz="3456"/>
            </a:lvl6pPr>
            <a:lvl7pPr>
              <a:defRPr sz="3456"/>
            </a:lvl7pPr>
            <a:lvl8pPr>
              <a:defRPr sz="3456"/>
            </a:lvl8pPr>
            <a:lvl9pPr>
              <a:defRPr sz="34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A6B08B-6657-4EA6-8D1D-2236F6792C69}"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246417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A6B08B-6657-4EA6-8D1D-2236F6792C69}"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218372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6B08B-6657-4EA6-8D1D-2236F6792C69}"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1825784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763" y="851385"/>
            <a:ext cx="9960336" cy="3623336"/>
          </a:xfrm>
        </p:spPr>
        <p:txBody>
          <a:bodyPr anchor="b"/>
          <a:lstStyle>
            <a:lvl1pPr algn="l">
              <a:defRPr sz="4303" b="1"/>
            </a:lvl1pPr>
          </a:lstStyle>
          <a:p>
            <a:r>
              <a:rPr lang="en-US"/>
              <a:t>Click to edit Master title style</a:t>
            </a:r>
          </a:p>
        </p:txBody>
      </p:sp>
      <p:sp>
        <p:nvSpPr>
          <p:cNvPr id="3" name="Content Placeholder 2"/>
          <p:cNvSpPr>
            <a:spLocks noGrp="1"/>
          </p:cNvSpPr>
          <p:nvPr>
            <p:ph idx="1"/>
          </p:nvPr>
        </p:nvSpPr>
        <p:spPr>
          <a:xfrm>
            <a:off x="11836767" y="851387"/>
            <a:ext cx="16924685" cy="18250332"/>
          </a:xfrm>
        </p:spPr>
        <p:txBody>
          <a:bodyPr/>
          <a:lstStyle>
            <a:lvl1pPr>
              <a:defRPr sz="6913"/>
            </a:lvl1pPr>
            <a:lvl2pPr>
              <a:defRPr sz="6066"/>
            </a:lvl2pPr>
            <a:lvl3pPr>
              <a:defRPr sz="5149"/>
            </a:lvl3pPr>
            <a:lvl4pPr>
              <a:defRPr sz="4303"/>
            </a:lvl4pPr>
            <a:lvl5pPr>
              <a:defRPr sz="4303"/>
            </a:lvl5pPr>
            <a:lvl6pPr>
              <a:defRPr sz="4303"/>
            </a:lvl6pPr>
            <a:lvl7pPr>
              <a:defRPr sz="4303"/>
            </a:lvl7pPr>
            <a:lvl8pPr>
              <a:defRPr sz="4303"/>
            </a:lvl8pPr>
            <a:lvl9pPr>
              <a:defRPr sz="430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13763" y="4474723"/>
            <a:ext cx="9960336" cy="14626996"/>
          </a:xfrm>
        </p:spPr>
        <p:txBody>
          <a:bodyPr/>
          <a:lstStyle>
            <a:lvl1pPr marL="0" indent="0">
              <a:buNone/>
              <a:defRPr sz="3033"/>
            </a:lvl1pPr>
            <a:lvl2pPr marL="986877" indent="0">
              <a:buNone/>
              <a:defRPr sz="2610"/>
            </a:lvl2pPr>
            <a:lvl3pPr marL="1973754" indent="0">
              <a:buNone/>
              <a:defRPr sz="2187"/>
            </a:lvl3pPr>
            <a:lvl4pPr marL="2960632" indent="0">
              <a:buNone/>
              <a:defRPr sz="1975"/>
            </a:lvl4pPr>
            <a:lvl5pPr marL="3947509" indent="0">
              <a:buNone/>
              <a:defRPr sz="1975"/>
            </a:lvl5pPr>
            <a:lvl6pPr marL="4934386" indent="0">
              <a:buNone/>
              <a:defRPr sz="1975"/>
            </a:lvl6pPr>
            <a:lvl7pPr marL="5921263" indent="0">
              <a:buNone/>
              <a:defRPr sz="1975"/>
            </a:lvl7pPr>
            <a:lvl8pPr marL="6908140" indent="0">
              <a:buNone/>
              <a:defRPr sz="1975"/>
            </a:lvl8pPr>
            <a:lvl9pPr marL="7895017" indent="0">
              <a:buNone/>
              <a:defRPr sz="1975"/>
            </a:lvl9pPr>
          </a:lstStyle>
          <a:p>
            <a:pPr lvl="0"/>
            <a:r>
              <a:rPr lang="en-US"/>
              <a:t>Click to edit Master text styles</a:t>
            </a:r>
          </a:p>
        </p:txBody>
      </p:sp>
      <p:sp>
        <p:nvSpPr>
          <p:cNvPr id="5" name="Date Placeholder 4"/>
          <p:cNvSpPr>
            <a:spLocks noGrp="1"/>
          </p:cNvSpPr>
          <p:nvPr>
            <p:ph type="dt" sz="half" idx="10"/>
          </p:nvPr>
        </p:nvSpPr>
        <p:spPr/>
        <p:txBody>
          <a:bodyPr/>
          <a:lstStyle/>
          <a:p>
            <a:fld id="{02A6B08B-6657-4EA6-8D1D-2236F6792C69}"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3367869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155" y="14968539"/>
            <a:ext cx="18165128" cy="1767120"/>
          </a:xfrm>
        </p:spPr>
        <p:txBody>
          <a:bodyPr anchor="b"/>
          <a:lstStyle>
            <a:lvl1pPr algn="l">
              <a:defRPr sz="4303" b="1"/>
            </a:lvl1pPr>
          </a:lstStyle>
          <a:p>
            <a:r>
              <a:rPr lang="en-US"/>
              <a:t>Click to edit Master title style</a:t>
            </a:r>
          </a:p>
        </p:txBody>
      </p:sp>
      <p:sp>
        <p:nvSpPr>
          <p:cNvPr id="3" name="Picture Placeholder 2"/>
          <p:cNvSpPr>
            <a:spLocks noGrp="1"/>
          </p:cNvSpPr>
          <p:nvPr>
            <p:ph type="pic" idx="1"/>
          </p:nvPr>
        </p:nvSpPr>
        <p:spPr>
          <a:xfrm>
            <a:off x="5934155" y="1910666"/>
            <a:ext cx="18165128" cy="12830175"/>
          </a:xfrm>
        </p:spPr>
        <p:txBody>
          <a:bodyPr/>
          <a:lstStyle>
            <a:lvl1pPr marL="0" indent="0">
              <a:buNone/>
              <a:defRPr sz="6913"/>
            </a:lvl1pPr>
            <a:lvl2pPr marL="986877" indent="0">
              <a:buNone/>
              <a:defRPr sz="6066"/>
            </a:lvl2pPr>
            <a:lvl3pPr marL="1973754" indent="0">
              <a:buNone/>
              <a:defRPr sz="5149"/>
            </a:lvl3pPr>
            <a:lvl4pPr marL="2960632" indent="0">
              <a:buNone/>
              <a:defRPr sz="4303"/>
            </a:lvl4pPr>
            <a:lvl5pPr marL="3947509" indent="0">
              <a:buNone/>
              <a:defRPr sz="4303"/>
            </a:lvl5pPr>
            <a:lvl6pPr marL="4934386" indent="0">
              <a:buNone/>
              <a:defRPr sz="4303"/>
            </a:lvl6pPr>
            <a:lvl7pPr marL="5921263" indent="0">
              <a:buNone/>
              <a:defRPr sz="4303"/>
            </a:lvl7pPr>
            <a:lvl8pPr marL="6908140" indent="0">
              <a:buNone/>
              <a:defRPr sz="4303"/>
            </a:lvl8pPr>
            <a:lvl9pPr marL="7895017" indent="0">
              <a:buNone/>
              <a:defRPr sz="4303"/>
            </a:lvl9pPr>
          </a:lstStyle>
          <a:p>
            <a:endParaRPr lang="en-US"/>
          </a:p>
        </p:txBody>
      </p:sp>
      <p:sp>
        <p:nvSpPr>
          <p:cNvPr id="4" name="Text Placeholder 3"/>
          <p:cNvSpPr>
            <a:spLocks noGrp="1"/>
          </p:cNvSpPr>
          <p:nvPr>
            <p:ph type="body" sz="half" idx="2"/>
          </p:nvPr>
        </p:nvSpPr>
        <p:spPr>
          <a:xfrm>
            <a:off x="5934155" y="16735659"/>
            <a:ext cx="18165128" cy="2509604"/>
          </a:xfrm>
        </p:spPr>
        <p:txBody>
          <a:bodyPr/>
          <a:lstStyle>
            <a:lvl1pPr marL="0" indent="0">
              <a:buNone/>
              <a:defRPr sz="3033"/>
            </a:lvl1pPr>
            <a:lvl2pPr marL="986877" indent="0">
              <a:buNone/>
              <a:defRPr sz="2610"/>
            </a:lvl2pPr>
            <a:lvl3pPr marL="1973754" indent="0">
              <a:buNone/>
              <a:defRPr sz="2187"/>
            </a:lvl3pPr>
            <a:lvl4pPr marL="2960632" indent="0">
              <a:buNone/>
              <a:defRPr sz="1975"/>
            </a:lvl4pPr>
            <a:lvl5pPr marL="3947509" indent="0">
              <a:buNone/>
              <a:defRPr sz="1975"/>
            </a:lvl5pPr>
            <a:lvl6pPr marL="4934386" indent="0">
              <a:buNone/>
              <a:defRPr sz="1975"/>
            </a:lvl6pPr>
            <a:lvl7pPr marL="5921263" indent="0">
              <a:buNone/>
              <a:defRPr sz="1975"/>
            </a:lvl7pPr>
            <a:lvl8pPr marL="6908140" indent="0">
              <a:buNone/>
              <a:defRPr sz="1975"/>
            </a:lvl8pPr>
            <a:lvl9pPr marL="7895017" indent="0">
              <a:buNone/>
              <a:defRPr sz="1975"/>
            </a:lvl9pPr>
          </a:lstStyle>
          <a:p>
            <a:pPr lvl="0"/>
            <a:r>
              <a:rPr lang="en-US"/>
              <a:t>Click to edit Master text styles</a:t>
            </a:r>
          </a:p>
        </p:txBody>
      </p:sp>
      <p:sp>
        <p:nvSpPr>
          <p:cNvPr id="5" name="Date Placeholder 4"/>
          <p:cNvSpPr>
            <a:spLocks noGrp="1"/>
          </p:cNvSpPr>
          <p:nvPr>
            <p:ph type="dt" sz="half" idx="10"/>
          </p:nvPr>
        </p:nvSpPr>
        <p:spPr/>
        <p:txBody>
          <a:bodyPr/>
          <a:lstStyle/>
          <a:p>
            <a:fld id="{02A6B08B-6657-4EA6-8D1D-2236F6792C69}"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2838974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6B08B-6657-4EA6-8D1D-2236F6792C69}"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1345413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00751" y="2672956"/>
            <a:ext cx="20540891" cy="568992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67567" y="2672956"/>
            <a:ext cx="61128599" cy="568992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6B08B-6657-4EA6-8D1D-2236F6792C69}"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180C23-E944-43EB-9B36-FEA1819B198C}" type="slidenum">
              <a:rPr lang="en-US" smtClean="0"/>
              <a:t>‹#›</a:t>
            </a:fld>
            <a:endParaRPr lang="en-US"/>
          </a:p>
        </p:txBody>
      </p:sp>
    </p:spTree>
    <p:extLst>
      <p:ext uri="{BB962C8B-B14F-4D97-AF65-F5344CB8AC3E}">
        <p14:creationId xmlns:p14="http://schemas.microsoft.com/office/powerpoint/2010/main" val="194584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762" y="856337"/>
            <a:ext cx="27247691" cy="3563938"/>
          </a:xfrm>
          <a:prstGeom prst="rect">
            <a:avLst/>
          </a:prstGeom>
        </p:spPr>
        <p:txBody>
          <a:bodyPr vert="horz" lIns="279806" tIns="139903" rIns="279806" bIns="139903" rtlCol="0" anchor="ctr">
            <a:normAutofit/>
          </a:bodyPr>
          <a:lstStyle/>
          <a:p>
            <a:r>
              <a:rPr lang="en-US"/>
              <a:t>Click to edit Master title style</a:t>
            </a:r>
          </a:p>
        </p:txBody>
      </p:sp>
      <p:sp>
        <p:nvSpPr>
          <p:cNvPr id="3" name="Text Placeholder 2"/>
          <p:cNvSpPr>
            <a:spLocks noGrp="1"/>
          </p:cNvSpPr>
          <p:nvPr>
            <p:ph type="body" idx="1"/>
          </p:nvPr>
        </p:nvSpPr>
        <p:spPr>
          <a:xfrm>
            <a:off x="1513762" y="4989515"/>
            <a:ext cx="27247691" cy="14112203"/>
          </a:xfrm>
          <a:prstGeom prst="rect">
            <a:avLst/>
          </a:prstGeom>
        </p:spPr>
        <p:txBody>
          <a:bodyPr vert="horz" lIns="279806" tIns="139903" rIns="279806" bIns="1399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513761" y="19819455"/>
            <a:ext cx="7064217" cy="1138480"/>
          </a:xfrm>
          <a:prstGeom prst="rect">
            <a:avLst/>
          </a:prstGeom>
        </p:spPr>
        <p:txBody>
          <a:bodyPr vert="horz" lIns="279806" tIns="139903" rIns="279806" bIns="139903" rtlCol="0" anchor="ctr"/>
          <a:lstStyle>
            <a:lvl1pPr algn="l">
              <a:defRPr sz="2610">
                <a:solidFill>
                  <a:schemeClr val="tx1">
                    <a:tint val="75000"/>
                  </a:schemeClr>
                </a:solidFill>
              </a:defRPr>
            </a:lvl1pPr>
          </a:lstStyle>
          <a:p>
            <a:fld id="{02A6B08B-6657-4EA6-8D1D-2236F6792C69}" type="datetimeFigureOut">
              <a:rPr lang="en-US" smtClean="0"/>
              <a:t>5/22/2025</a:t>
            </a:fld>
            <a:endParaRPr lang="en-US"/>
          </a:p>
        </p:txBody>
      </p:sp>
      <p:sp>
        <p:nvSpPr>
          <p:cNvPr id="5" name="Footer Placeholder 4"/>
          <p:cNvSpPr>
            <a:spLocks noGrp="1"/>
          </p:cNvSpPr>
          <p:nvPr>
            <p:ph type="ftr" sz="quarter" idx="3"/>
          </p:nvPr>
        </p:nvSpPr>
        <p:spPr>
          <a:xfrm>
            <a:off x="10344033" y="19819455"/>
            <a:ext cx="9587150" cy="1138480"/>
          </a:xfrm>
          <a:prstGeom prst="rect">
            <a:avLst/>
          </a:prstGeom>
        </p:spPr>
        <p:txBody>
          <a:bodyPr vert="horz" lIns="279806" tIns="139903" rIns="279806" bIns="139903" rtlCol="0" anchor="ctr"/>
          <a:lstStyle>
            <a:lvl1pPr algn="ctr">
              <a:defRPr sz="261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697235" y="19819455"/>
            <a:ext cx="7064217" cy="1138480"/>
          </a:xfrm>
          <a:prstGeom prst="rect">
            <a:avLst/>
          </a:prstGeom>
        </p:spPr>
        <p:txBody>
          <a:bodyPr vert="horz" lIns="279806" tIns="139903" rIns="279806" bIns="139903" rtlCol="0" anchor="ctr"/>
          <a:lstStyle>
            <a:lvl1pPr algn="r">
              <a:defRPr sz="2610">
                <a:solidFill>
                  <a:schemeClr val="tx1">
                    <a:tint val="75000"/>
                  </a:schemeClr>
                </a:solidFill>
              </a:defRPr>
            </a:lvl1pPr>
          </a:lstStyle>
          <a:p>
            <a:fld id="{01180C23-E944-43EB-9B36-FEA1819B198C}" type="slidenum">
              <a:rPr lang="en-US" smtClean="0"/>
              <a:t>‹#›</a:t>
            </a:fld>
            <a:endParaRPr lang="en-US"/>
          </a:p>
        </p:txBody>
      </p:sp>
    </p:spTree>
    <p:extLst>
      <p:ext uri="{BB962C8B-B14F-4D97-AF65-F5344CB8AC3E}">
        <p14:creationId xmlns:p14="http://schemas.microsoft.com/office/powerpoint/2010/main" val="848012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973754" rtl="0" eaLnBrk="1" latinLnBrk="0" hangingPunct="1">
        <a:spcBef>
          <a:spcPct val="0"/>
        </a:spcBef>
        <a:buNone/>
        <a:defRPr sz="9523" kern="1200">
          <a:solidFill>
            <a:schemeClr val="tx1"/>
          </a:solidFill>
          <a:latin typeface="+mj-lt"/>
          <a:ea typeface="+mj-ea"/>
          <a:cs typeface="+mj-cs"/>
        </a:defRPr>
      </a:lvl1pPr>
    </p:titleStyle>
    <p:bodyStyle>
      <a:lvl1pPr marL="740158" indent="-740158" algn="l" defTabSz="1973754" rtl="0" eaLnBrk="1" latinLnBrk="0" hangingPunct="1">
        <a:spcBef>
          <a:spcPct val="20000"/>
        </a:spcBef>
        <a:buFont typeface="Arial" panose="020B0604020202020204" pitchFamily="34" charset="0"/>
        <a:buChar char="•"/>
        <a:defRPr sz="6913" kern="1200">
          <a:solidFill>
            <a:schemeClr val="tx1"/>
          </a:solidFill>
          <a:latin typeface="+mn-lt"/>
          <a:ea typeface="+mn-ea"/>
          <a:cs typeface="+mn-cs"/>
        </a:defRPr>
      </a:lvl1pPr>
      <a:lvl2pPr marL="1603675" indent="-616798" algn="l" defTabSz="1973754" rtl="0" eaLnBrk="1" latinLnBrk="0" hangingPunct="1">
        <a:spcBef>
          <a:spcPct val="20000"/>
        </a:spcBef>
        <a:buFont typeface="Arial" panose="020B0604020202020204" pitchFamily="34" charset="0"/>
        <a:buChar char="–"/>
        <a:defRPr sz="6066" kern="1200">
          <a:solidFill>
            <a:schemeClr val="tx1"/>
          </a:solidFill>
          <a:latin typeface="+mn-lt"/>
          <a:ea typeface="+mn-ea"/>
          <a:cs typeface="+mn-cs"/>
        </a:defRPr>
      </a:lvl2pPr>
      <a:lvl3pPr marL="2467193" indent="-493439" algn="l" defTabSz="1973754" rtl="0" eaLnBrk="1" latinLnBrk="0" hangingPunct="1">
        <a:spcBef>
          <a:spcPct val="20000"/>
        </a:spcBef>
        <a:buFont typeface="Arial" panose="020B0604020202020204" pitchFamily="34" charset="0"/>
        <a:buChar char="•"/>
        <a:defRPr sz="5149" kern="1200">
          <a:solidFill>
            <a:schemeClr val="tx1"/>
          </a:solidFill>
          <a:latin typeface="+mn-lt"/>
          <a:ea typeface="+mn-ea"/>
          <a:cs typeface="+mn-cs"/>
        </a:defRPr>
      </a:lvl3pPr>
      <a:lvl4pPr marL="3454070" indent="-493439" algn="l" defTabSz="1973754" rtl="0" eaLnBrk="1" latinLnBrk="0" hangingPunct="1">
        <a:spcBef>
          <a:spcPct val="20000"/>
        </a:spcBef>
        <a:buFont typeface="Arial" panose="020B0604020202020204" pitchFamily="34" charset="0"/>
        <a:buChar char="–"/>
        <a:defRPr sz="4303" kern="1200">
          <a:solidFill>
            <a:schemeClr val="tx1"/>
          </a:solidFill>
          <a:latin typeface="+mn-lt"/>
          <a:ea typeface="+mn-ea"/>
          <a:cs typeface="+mn-cs"/>
        </a:defRPr>
      </a:lvl4pPr>
      <a:lvl5pPr marL="4440947" indent="-493439" algn="l" defTabSz="1973754" rtl="0" eaLnBrk="1" latinLnBrk="0" hangingPunct="1">
        <a:spcBef>
          <a:spcPct val="20000"/>
        </a:spcBef>
        <a:buFont typeface="Arial" panose="020B0604020202020204" pitchFamily="34" charset="0"/>
        <a:buChar char="»"/>
        <a:defRPr sz="4303" kern="1200">
          <a:solidFill>
            <a:schemeClr val="tx1"/>
          </a:solidFill>
          <a:latin typeface="+mn-lt"/>
          <a:ea typeface="+mn-ea"/>
          <a:cs typeface="+mn-cs"/>
        </a:defRPr>
      </a:lvl5pPr>
      <a:lvl6pPr marL="5427824" indent="-493439" algn="l" defTabSz="1973754" rtl="0" eaLnBrk="1" latinLnBrk="0" hangingPunct="1">
        <a:spcBef>
          <a:spcPct val="20000"/>
        </a:spcBef>
        <a:buFont typeface="Arial" panose="020B0604020202020204" pitchFamily="34" charset="0"/>
        <a:buChar char="•"/>
        <a:defRPr sz="4303" kern="1200">
          <a:solidFill>
            <a:schemeClr val="tx1"/>
          </a:solidFill>
          <a:latin typeface="+mn-lt"/>
          <a:ea typeface="+mn-ea"/>
          <a:cs typeface="+mn-cs"/>
        </a:defRPr>
      </a:lvl6pPr>
      <a:lvl7pPr marL="6414702" indent="-493439" algn="l" defTabSz="1973754" rtl="0" eaLnBrk="1" latinLnBrk="0" hangingPunct="1">
        <a:spcBef>
          <a:spcPct val="20000"/>
        </a:spcBef>
        <a:buFont typeface="Arial" panose="020B0604020202020204" pitchFamily="34" charset="0"/>
        <a:buChar char="•"/>
        <a:defRPr sz="4303" kern="1200">
          <a:solidFill>
            <a:schemeClr val="tx1"/>
          </a:solidFill>
          <a:latin typeface="+mn-lt"/>
          <a:ea typeface="+mn-ea"/>
          <a:cs typeface="+mn-cs"/>
        </a:defRPr>
      </a:lvl7pPr>
      <a:lvl8pPr marL="7401579" indent="-493439" algn="l" defTabSz="1973754" rtl="0" eaLnBrk="1" latinLnBrk="0" hangingPunct="1">
        <a:spcBef>
          <a:spcPct val="20000"/>
        </a:spcBef>
        <a:buFont typeface="Arial" panose="020B0604020202020204" pitchFamily="34" charset="0"/>
        <a:buChar char="•"/>
        <a:defRPr sz="4303" kern="1200">
          <a:solidFill>
            <a:schemeClr val="tx1"/>
          </a:solidFill>
          <a:latin typeface="+mn-lt"/>
          <a:ea typeface="+mn-ea"/>
          <a:cs typeface="+mn-cs"/>
        </a:defRPr>
      </a:lvl8pPr>
      <a:lvl9pPr marL="8388456" indent="-493439" algn="l" defTabSz="1973754" rtl="0" eaLnBrk="1" latinLnBrk="0" hangingPunct="1">
        <a:spcBef>
          <a:spcPct val="20000"/>
        </a:spcBef>
        <a:buFont typeface="Arial" panose="020B0604020202020204" pitchFamily="34" charset="0"/>
        <a:buChar char="•"/>
        <a:defRPr sz="4303" kern="1200">
          <a:solidFill>
            <a:schemeClr val="tx1"/>
          </a:solidFill>
          <a:latin typeface="+mn-lt"/>
          <a:ea typeface="+mn-ea"/>
          <a:cs typeface="+mn-cs"/>
        </a:defRPr>
      </a:lvl9pPr>
    </p:bodyStyle>
    <p:otherStyle>
      <a:defPPr>
        <a:defRPr lang="en-US"/>
      </a:defPPr>
      <a:lvl1pPr marL="0" algn="l" defTabSz="1973754" rtl="0" eaLnBrk="1" latinLnBrk="0" hangingPunct="1">
        <a:defRPr sz="3880" kern="1200">
          <a:solidFill>
            <a:schemeClr val="tx1"/>
          </a:solidFill>
          <a:latin typeface="+mn-lt"/>
          <a:ea typeface="+mn-ea"/>
          <a:cs typeface="+mn-cs"/>
        </a:defRPr>
      </a:lvl1pPr>
      <a:lvl2pPr marL="986877" algn="l" defTabSz="1973754" rtl="0" eaLnBrk="1" latinLnBrk="0" hangingPunct="1">
        <a:defRPr sz="3880" kern="1200">
          <a:solidFill>
            <a:schemeClr val="tx1"/>
          </a:solidFill>
          <a:latin typeface="+mn-lt"/>
          <a:ea typeface="+mn-ea"/>
          <a:cs typeface="+mn-cs"/>
        </a:defRPr>
      </a:lvl2pPr>
      <a:lvl3pPr marL="1973754" algn="l" defTabSz="1973754" rtl="0" eaLnBrk="1" latinLnBrk="0" hangingPunct="1">
        <a:defRPr sz="3880" kern="1200">
          <a:solidFill>
            <a:schemeClr val="tx1"/>
          </a:solidFill>
          <a:latin typeface="+mn-lt"/>
          <a:ea typeface="+mn-ea"/>
          <a:cs typeface="+mn-cs"/>
        </a:defRPr>
      </a:lvl3pPr>
      <a:lvl4pPr marL="2960632" algn="l" defTabSz="1973754" rtl="0" eaLnBrk="1" latinLnBrk="0" hangingPunct="1">
        <a:defRPr sz="3880" kern="1200">
          <a:solidFill>
            <a:schemeClr val="tx1"/>
          </a:solidFill>
          <a:latin typeface="+mn-lt"/>
          <a:ea typeface="+mn-ea"/>
          <a:cs typeface="+mn-cs"/>
        </a:defRPr>
      </a:lvl4pPr>
      <a:lvl5pPr marL="3947509" algn="l" defTabSz="1973754" rtl="0" eaLnBrk="1" latinLnBrk="0" hangingPunct="1">
        <a:defRPr sz="3880" kern="1200">
          <a:solidFill>
            <a:schemeClr val="tx1"/>
          </a:solidFill>
          <a:latin typeface="+mn-lt"/>
          <a:ea typeface="+mn-ea"/>
          <a:cs typeface="+mn-cs"/>
        </a:defRPr>
      </a:lvl5pPr>
      <a:lvl6pPr marL="4934386" algn="l" defTabSz="1973754" rtl="0" eaLnBrk="1" latinLnBrk="0" hangingPunct="1">
        <a:defRPr sz="3880" kern="1200">
          <a:solidFill>
            <a:schemeClr val="tx1"/>
          </a:solidFill>
          <a:latin typeface="+mn-lt"/>
          <a:ea typeface="+mn-ea"/>
          <a:cs typeface="+mn-cs"/>
        </a:defRPr>
      </a:lvl6pPr>
      <a:lvl7pPr marL="5921263" algn="l" defTabSz="1973754" rtl="0" eaLnBrk="1" latinLnBrk="0" hangingPunct="1">
        <a:defRPr sz="3880" kern="1200">
          <a:solidFill>
            <a:schemeClr val="tx1"/>
          </a:solidFill>
          <a:latin typeface="+mn-lt"/>
          <a:ea typeface="+mn-ea"/>
          <a:cs typeface="+mn-cs"/>
        </a:defRPr>
      </a:lvl7pPr>
      <a:lvl8pPr marL="6908140" algn="l" defTabSz="1973754" rtl="0" eaLnBrk="1" latinLnBrk="0" hangingPunct="1">
        <a:defRPr sz="3880" kern="1200">
          <a:solidFill>
            <a:schemeClr val="tx1"/>
          </a:solidFill>
          <a:latin typeface="+mn-lt"/>
          <a:ea typeface="+mn-ea"/>
          <a:cs typeface="+mn-cs"/>
        </a:defRPr>
      </a:lvl8pPr>
      <a:lvl9pPr marL="7895017" algn="l" defTabSz="1973754" rtl="0" eaLnBrk="1" latinLnBrk="0" hangingPunct="1">
        <a:defRPr sz="38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 y="-1"/>
            <a:ext cx="30339106" cy="21390399"/>
            <a:chOff x="-94108" y="-1"/>
            <a:chExt cx="27672159" cy="21493319"/>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2825" y="1307439"/>
              <a:ext cx="5534705" cy="1919155"/>
            </a:xfrm>
            <a:prstGeom prst="rect">
              <a:avLst/>
            </a:prstGeom>
          </p:spPr>
        </p:pic>
        <p:sp>
          <p:nvSpPr>
            <p:cNvPr id="5" name="Rectangle 4"/>
            <p:cNvSpPr/>
            <p:nvPr/>
          </p:nvSpPr>
          <p:spPr>
            <a:xfrm>
              <a:off x="-94108" y="1"/>
              <a:ext cx="21426932" cy="9601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90"/>
            </a:p>
          </p:txBody>
        </p:sp>
        <p:sp>
          <p:nvSpPr>
            <p:cNvPr id="7" name="Rectangle 6"/>
            <p:cNvSpPr/>
            <p:nvPr/>
          </p:nvSpPr>
          <p:spPr>
            <a:xfrm>
              <a:off x="21332824" y="-1"/>
              <a:ext cx="6245227" cy="96010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90"/>
            </a:p>
          </p:txBody>
        </p:sp>
        <p:sp>
          <p:nvSpPr>
            <p:cNvPr id="8" name="Rectangle 7"/>
            <p:cNvSpPr/>
            <p:nvPr/>
          </p:nvSpPr>
          <p:spPr>
            <a:xfrm>
              <a:off x="-94108" y="20927004"/>
              <a:ext cx="27613883" cy="56631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90"/>
            </a:p>
          </p:txBody>
        </p:sp>
      </p:grpSp>
      <p:sp>
        <p:nvSpPr>
          <p:cNvPr id="10" name="TextBox 9"/>
          <p:cNvSpPr txBox="1"/>
          <p:nvPr/>
        </p:nvSpPr>
        <p:spPr>
          <a:xfrm>
            <a:off x="6794410" y="1273852"/>
            <a:ext cx="15951607" cy="906530"/>
          </a:xfrm>
          <a:prstGeom prst="rect">
            <a:avLst/>
          </a:prstGeom>
          <a:noFill/>
        </p:spPr>
        <p:txBody>
          <a:bodyPr wrap="square" rtlCol="0">
            <a:spAutoFit/>
          </a:bodyPr>
          <a:lstStyle/>
          <a:p>
            <a:pPr algn="ctr"/>
            <a:r>
              <a:rPr lang="en-US" sz="5200" b="1" dirty="0">
                <a:solidFill>
                  <a:schemeClr val="accent1">
                    <a:lumMod val="50000"/>
                  </a:schemeClr>
                </a:solidFill>
              </a:rPr>
              <a:t>E-Commerce Platform with IoT Smart Shelf &amp; Chatbot</a:t>
            </a:r>
          </a:p>
        </p:txBody>
      </p:sp>
      <p:cxnSp>
        <p:nvCxnSpPr>
          <p:cNvPr id="18" name="Straight Connector 17"/>
          <p:cNvCxnSpPr>
            <a:cxnSpLocks/>
          </p:cNvCxnSpPr>
          <p:nvPr/>
        </p:nvCxnSpPr>
        <p:spPr>
          <a:xfrm>
            <a:off x="39285" y="3805374"/>
            <a:ext cx="30235928" cy="92177"/>
          </a:xfrm>
          <a:prstGeom prst="line">
            <a:avLst/>
          </a:prstGeom>
          <a:ln w="1270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529196" y="2122885"/>
            <a:ext cx="13975599" cy="981807"/>
          </a:xfrm>
          <a:prstGeom prst="rect">
            <a:avLst/>
          </a:prstGeom>
          <a:noFill/>
        </p:spPr>
        <p:txBody>
          <a:bodyPr wrap="square" rtlCol="0">
            <a:spAutoFit/>
          </a:bodyPr>
          <a:lstStyle/>
          <a:p>
            <a:pPr algn="ctr"/>
            <a:r>
              <a:rPr lang="en-US" sz="2890" b="1" dirty="0">
                <a:solidFill>
                  <a:schemeClr val="accent1">
                    <a:lumMod val="50000"/>
                  </a:schemeClr>
                </a:solidFill>
              </a:rPr>
              <a:t>INFORMATION TECHNOLOGY</a:t>
            </a:r>
          </a:p>
          <a:p>
            <a:pPr algn="ctr"/>
            <a:r>
              <a:rPr lang="en-US" sz="2890" b="1" dirty="0">
                <a:solidFill>
                  <a:schemeClr val="accent1">
                    <a:lumMod val="50000"/>
                  </a:schemeClr>
                </a:solidFill>
              </a:rPr>
              <a:t>SCHOOL OF ENGINEERING, ARCHITECTURE AND INTERIOR DESIGN</a:t>
            </a:r>
          </a:p>
        </p:txBody>
      </p:sp>
      <p:sp>
        <p:nvSpPr>
          <p:cNvPr id="32" name="TextBox 31"/>
          <p:cNvSpPr txBox="1"/>
          <p:nvPr/>
        </p:nvSpPr>
        <p:spPr>
          <a:xfrm>
            <a:off x="19979602" y="18258516"/>
            <a:ext cx="5805155" cy="2015936"/>
          </a:xfrm>
          <a:prstGeom prst="rect">
            <a:avLst/>
          </a:prstGeom>
          <a:noFill/>
        </p:spPr>
        <p:txBody>
          <a:bodyPr wrap="square" rtlCol="0">
            <a:spAutoFit/>
          </a:bodyPr>
          <a:lstStyle/>
          <a:p>
            <a:pPr algn="ctr"/>
            <a:r>
              <a:rPr lang="en-US" sz="2000" b="1" dirty="0">
                <a:solidFill>
                  <a:schemeClr val="accent1">
                    <a:lumMod val="50000"/>
                  </a:schemeClr>
                </a:solidFill>
                <a:latin typeface="Times New Roman" panose="02020603050405020304" pitchFamily="18" charset="0"/>
                <a:cs typeface="Times New Roman" panose="02020603050405020304" pitchFamily="18" charset="0"/>
              </a:rPr>
              <a:t>Student’s Name </a:t>
            </a:r>
            <a:r>
              <a:rPr lang="en-US" sz="2000" dirty="0">
                <a:solidFill>
                  <a:schemeClr val="accent1">
                    <a:lumMod val="50000"/>
                  </a:schemeClr>
                </a:solidFill>
                <a:latin typeface="Times New Roman" panose="02020603050405020304" pitchFamily="18" charset="0"/>
                <a:cs typeface="Times New Roman" panose="02020603050405020304" pitchFamily="18" charset="0"/>
              </a:rPr>
              <a:t>– Mohammed Muhsin </a:t>
            </a:r>
          </a:p>
          <a:p>
            <a:pPr algn="ctr"/>
            <a:r>
              <a:rPr lang="en-US" sz="2000" b="1" dirty="0" err="1">
                <a:solidFill>
                  <a:schemeClr val="accent1">
                    <a:lumMod val="50000"/>
                  </a:schemeClr>
                </a:solidFill>
                <a:latin typeface="Times New Roman" panose="02020603050405020304" pitchFamily="18" charset="0"/>
                <a:cs typeface="Times New Roman" panose="02020603050405020304" pitchFamily="18" charset="0"/>
              </a:rPr>
              <a:t>Enrol</a:t>
            </a:r>
            <a:r>
              <a:rPr lang="en-US" sz="2000" b="1" dirty="0">
                <a:solidFill>
                  <a:schemeClr val="accent1">
                    <a:lumMod val="50000"/>
                  </a:schemeClr>
                </a:solidFill>
                <a:latin typeface="Times New Roman" panose="02020603050405020304" pitchFamily="18" charset="0"/>
                <a:cs typeface="Times New Roman" panose="02020603050405020304" pitchFamily="18" charset="0"/>
              </a:rPr>
              <a:t> No.</a:t>
            </a:r>
            <a:r>
              <a:rPr lang="en-US" sz="2000" dirty="0">
                <a:solidFill>
                  <a:schemeClr val="accent1">
                    <a:lumMod val="50000"/>
                  </a:schemeClr>
                </a:solidFill>
                <a:latin typeface="Times New Roman" panose="02020603050405020304" pitchFamily="18" charset="0"/>
                <a:cs typeface="Times New Roman" panose="02020603050405020304" pitchFamily="18" charset="0"/>
              </a:rPr>
              <a:t> – A92604922025</a:t>
            </a:r>
          </a:p>
          <a:p>
            <a:pPr algn="ctr"/>
            <a:r>
              <a:rPr lang="en-US" sz="2000" b="1" dirty="0">
                <a:solidFill>
                  <a:schemeClr val="accent1">
                    <a:lumMod val="50000"/>
                  </a:schemeClr>
                </a:solidFill>
                <a:latin typeface="Times New Roman" panose="02020603050405020304" pitchFamily="18" charset="0"/>
                <a:cs typeface="Times New Roman" panose="02020603050405020304" pitchFamily="18" charset="0"/>
              </a:rPr>
              <a:t>Program</a:t>
            </a:r>
            <a:r>
              <a:rPr lang="en-US" sz="2000" dirty="0">
                <a:solidFill>
                  <a:schemeClr val="accent1">
                    <a:lumMod val="50000"/>
                  </a:schemeClr>
                </a:solidFill>
                <a:latin typeface="Times New Roman" panose="02020603050405020304" pitchFamily="18" charset="0"/>
                <a:cs typeface="Times New Roman" panose="02020603050405020304" pitchFamily="18" charset="0"/>
              </a:rPr>
              <a:t> - BSc-IT, Semester 6</a:t>
            </a:r>
          </a:p>
          <a:p>
            <a:pPr algn="ctr"/>
            <a:r>
              <a:rPr lang="en-US" sz="2000" b="1" dirty="0">
                <a:solidFill>
                  <a:schemeClr val="accent1">
                    <a:lumMod val="50000"/>
                  </a:schemeClr>
                </a:solidFill>
                <a:latin typeface="Times New Roman" panose="02020603050405020304" pitchFamily="18" charset="0"/>
                <a:cs typeface="Times New Roman" panose="02020603050405020304" pitchFamily="18" charset="0"/>
              </a:rPr>
              <a:t>Batch</a:t>
            </a:r>
            <a:r>
              <a:rPr lang="en-US" sz="2000" dirty="0">
                <a:solidFill>
                  <a:schemeClr val="accent1">
                    <a:lumMod val="50000"/>
                  </a:schemeClr>
                </a:solidFill>
                <a:latin typeface="Times New Roman" panose="02020603050405020304" pitchFamily="18" charset="0"/>
                <a:cs typeface="Times New Roman" panose="02020603050405020304" pitchFamily="18" charset="0"/>
              </a:rPr>
              <a:t> -2022-2025</a:t>
            </a:r>
          </a:p>
          <a:p>
            <a:pPr algn="ctr"/>
            <a:endParaRPr lang="en-US" sz="2000" dirty="0">
              <a:solidFill>
                <a:schemeClr val="accent1">
                  <a:lumMod val="50000"/>
                </a:schemeClr>
              </a:solidFill>
              <a:latin typeface="Times New Roman" panose="02020603050405020304" pitchFamily="18" charset="0"/>
              <a:cs typeface="Times New Roman" panose="02020603050405020304" pitchFamily="18" charset="0"/>
            </a:endParaRPr>
          </a:p>
          <a:p>
            <a:endParaRPr lang="en-US" sz="2500" dirty="0"/>
          </a:p>
        </p:txBody>
      </p:sp>
      <p:sp>
        <p:nvSpPr>
          <p:cNvPr id="38" name="TextBox 37"/>
          <p:cNvSpPr txBox="1"/>
          <p:nvPr/>
        </p:nvSpPr>
        <p:spPr>
          <a:xfrm>
            <a:off x="24457675" y="18259921"/>
            <a:ext cx="5805155" cy="1831271"/>
          </a:xfrm>
          <a:prstGeom prst="rect">
            <a:avLst/>
          </a:prstGeom>
          <a:noFill/>
        </p:spPr>
        <p:txBody>
          <a:bodyPr wrap="square" rtlCol="0">
            <a:spAutoFit/>
          </a:bodyPr>
          <a:lstStyle/>
          <a:p>
            <a:pPr algn="ctr"/>
            <a:r>
              <a:rPr lang="en-AE" sz="2000" dirty="0">
                <a:solidFill>
                  <a:schemeClr val="tx2">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Dr  Vinod Kumar Shukla                                                                                             </a:t>
            </a:r>
            <a:r>
              <a:rPr lang="en-AE"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Department of Information Technology</a:t>
            </a:r>
            <a:endParaRPr lang="en-AE" sz="1600" dirty="0">
              <a:latin typeface="Times New Roman" panose="02020603050405020304" pitchFamily="18" charset="0"/>
              <a:ea typeface="Times New Roman" panose="02020603050405020304" pitchFamily="18" charset="0"/>
            </a:endParaRPr>
          </a:p>
          <a:p>
            <a:pPr algn="ctr">
              <a:buNone/>
            </a:pPr>
            <a:r>
              <a:rPr lang="en-AE"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School of </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Architecture</a:t>
            </a:r>
            <a:r>
              <a:rPr lang="en-AE"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a:t>
            </a:r>
            <a:r>
              <a:rPr 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Engineering,</a:t>
            </a:r>
            <a:r>
              <a:rPr lang="en-AE"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Interior Design</a:t>
            </a:r>
            <a:endParaRPr lang="en-AE" sz="1600" dirty="0">
              <a:latin typeface="Times New Roman" panose="02020603050405020304" pitchFamily="18" charset="0"/>
              <a:ea typeface="Times New Roman" panose="02020603050405020304" pitchFamily="18" charset="0"/>
            </a:endParaRPr>
          </a:p>
          <a:p>
            <a:pPr algn="ctr"/>
            <a:r>
              <a:rPr lang="en-AE"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Amity University Dubai                                                         </a:t>
            </a:r>
            <a:endParaRPr lang="en-AE" sz="1600" dirty="0">
              <a:latin typeface="Times New Roman" panose="02020603050405020304" pitchFamily="18" charset="0"/>
              <a:ea typeface="Times New Roman" panose="02020603050405020304" pitchFamily="18" charset="0"/>
            </a:endParaRPr>
          </a:p>
          <a:p>
            <a:pPr algn="ctr"/>
            <a:endParaRPr lang="en-US" sz="2000" dirty="0">
              <a:solidFill>
                <a:schemeClr val="accent1">
                  <a:lumMod val="50000"/>
                </a:schemeClr>
              </a:solidFill>
            </a:endParaRPr>
          </a:p>
          <a:p>
            <a:endParaRPr lang="en-US" sz="2500" dirty="0"/>
          </a:p>
        </p:txBody>
      </p:sp>
      <p:sp>
        <p:nvSpPr>
          <p:cNvPr id="13" name="TextBox 12">
            <a:extLst>
              <a:ext uri="{FF2B5EF4-FFF2-40B4-BE49-F238E27FC236}">
                <a16:creationId xmlns:a16="http://schemas.microsoft.com/office/drawing/2014/main" id="{70A1DC4E-B23B-FCA1-7208-44B59F7EFC45}"/>
              </a:ext>
            </a:extLst>
          </p:cNvPr>
          <p:cNvSpPr txBox="1"/>
          <p:nvPr/>
        </p:nvSpPr>
        <p:spPr>
          <a:xfrm>
            <a:off x="461804" y="4239966"/>
            <a:ext cx="8458200" cy="3785652"/>
          </a:xfrm>
          <a:prstGeom prst="rect">
            <a:avLst/>
          </a:prstGeom>
          <a:solidFill>
            <a:schemeClr val="bg1"/>
          </a:solidFill>
          <a:ln w="38100">
            <a:solidFill>
              <a:srgbClr val="FFC000"/>
            </a:solidFill>
          </a:ln>
        </p:spPr>
        <p:txBody>
          <a:bodyPr wrap="square" rtlCol="0">
            <a:sp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presents a smart e-commerce platform integrated with an IoT-enabled shelf system to enable real-time inventory tracking and product environment monitoring. Built using the MERN stack and powered by sensors (RFID, Ultrasonic, and Temperature), the system allows customers to shop online seamlessly while providing admins live updates on stock status, product movement, and shelf temperature. It combines modern web development with embedded hardware to deliver a smart, secure, and efficient retail experience.</a:t>
            </a:r>
            <a:endParaRPr lang="en-AE"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9D4F423-79A0-6C98-E95A-5E4AC9ACEF11}"/>
              </a:ext>
            </a:extLst>
          </p:cNvPr>
          <p:cNvSpPr txBox="1"/>
          <p:nvPr/>
        </p:nvSpPr>
        <p:spPr>
          <a:xfrm>
            <a:off x="469106" y="8355667"/>
            <a:ext cx="8204886" cy="6370975"/>
          </a:xfrm>
          <a:prstGeom prst="rect">
            <a:avLst/>
          </a:prstGeom>
          <a:noFill/>
          <a:ln w="38100">
            <a:solidFill>
              <a:srgbClr val="FFC000"/>
            </a:solidFill>
          </a:ln>
        </p:spPr>
        <p:txBody>
          <a:bodyPr wrap="square" rtlCol="0">
            <a:spAutoFit/>
          </a:bodyPr>
          <a:lstStyle/>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develop a full-featured e-commerce web platform using the MERN stack (MongoDB, Express.js, React.js, Node.js).</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integrate an IoT-based smart shelf system using ESP32 and sensors for real-time inventory monitoring.</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ensure secure user authentication, cart operations, and payments using JWT and Stripe.</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provide real-time shelf data (product presence, RFID, and temperature) to the admin dashboard.</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enhance user experience through an AI-powered chatbot for product search and recommendations</a:t>
            </a:r>
            <a:endParaRPr lang="en-AE"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D19DD4B-0ADF-CA91-DB7E-4F5CA9392AFE}"/>
              </a:ext>
            </a:extLst>
          </p:cNvPr>
          <p:cNvSpPr txBox="1"/>
          <p:nvPr/>
        </p:nvSpPr>
        <p:spPr>
          <a:xfrm>
            <a:off x="461804" y="15173764"/>
            <a:ext cx="8450897" cy="5262979"/>
          </a:xfrm>
          <a:prstGeom prst="rect">
            <a:avLst/>
          </a:prstGeom>
          <a:noFill/>
          <a:ln w="38100">
            <a:solidFill>
              <a:srgbClr val="FFC000"/>
            </a:solidFill>
          </a:ln>
        </p:spPr>
        <p:txBody>
          <a:bodyPr wrap="square" rtlCol="0">
            <a:spAutoFit/>
          </a:bodyPr>
          <a:lstStyle/>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Frontend: </a:t>
            </a:r>
            <a:r>
              <a:rPr lang="en-US" sz="2400" dirty="0">
                <a:latin typeface="Times New Roman" panose="02020603050405020304" pitchFamily="18" charset="0"/>
                <a:cs typeface="Times New Roman" panose="02020603050405020304" pitchFamily="18" charset="0"/>
              </a:rPr>
              <a:t>Built using React.js, JavaScript, and CSS. Used Axios for API calls, React Router DOM for navigation, and Stripe.js for secure payments.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Backend: </a:t>
            </a:r>
            <a:r>
              <a:rPr lang="en-US" sz="2400" dirty="0">
                <a:latin typeface="Times New Roman" panose="02020603050405020304" pitchFamily="18" charset="0"/>
                <a:cs typeface="Times New Roman" panose="02020603050405020304" pitchFamily="18" charset="0"/>
              </a:rPr>
              <a:t>Developed with Node.js and Express.js. Used MongoDB Atlas for cloud database, JWT for authentication, and </a:t>
            </a:r>
            <a:r>
              <a:rPr lang="en-US" sz="2400" dirty="0" err="1">
                <a:latin typeface="Times New Roman" panose="02020603050405020304" pitchFamily="18" charset="0"/>
                <a:cs typeface="Times New Roman" panose="02020603050405020304" pitchFamily="18" charset="0"/>
              </a:rPr>
              <a:t>bcryptjs</a:t>
            </a:r>
            <a:r>
              <a:rPr lang="en-US" sz="2400" dirty="0">
                <a:latin typeface="Times New Roman" panose="02020603050405020304" pitchFamily="18" charset="0"/>
                <a:cs typeface="Times New Roman" panose="02020603050405020304" pitchFamily="18" charset="0"/>
              </a:rPr>
              <a:t> for password security.</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IoT Smart Shelf: </a:t>
            </a:r>
            <a:r>
              <a:rPr lang="en-US" sz="2400" dirty="0">
                <a:latin typeface="Times New Roman" panose="02020603050405020304" pitchFamily="18" charset="0"/>
                <a:cs typeface="Times New Roman" panose="02020603050405020304" pitchFamily="18" charset="0"/>
              </a:rPr>
              <a:t>Powered by ESP32 with RFID (MFRC522), Ultrasonic Sensor (HC-SR04), and DHT11 for temperature. </a:t>
            </a:r>
          </a:p>
          <a:p>
            <a:r>
              <a:rPr lang="en-US" sz="2400" dirty="0">
                <a:latin typeface="Times New Roman" panose="02020603050405020304" pitchFamily="18" charset="0"/>
                <a:cs typeface="Times New Roman" panose="02020603050405020304" pitchFamily="18" charset="0"/>
              </a:rPr>
              <a:t>Programmed via Arduino IDE, sending real-time data to the backend over Wi-Fi.</a:t>
            </a:r>
            <a:endParaRPr lang="en-AE" sz="24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277550A1-300C-A82D-5821-D8FFAE4AF7B6}"/>
              </a:ext>
            </a:extLst>
          </p:cNvPr>
          <p:cNvPicPr>
            <a:picLocks noChangeAspect="1"/>
          </p:cNvPicPr>
          <p:nvPr/>
        </p:nvPicPr>
        <p:blipFill>
          <a:blip r:embed="rId4"/>
          <a:stretch>
            <a:fillRect/>
          </a:stretch>
        </p:blipFill>
        <p:spPr>
          <a:xfrm>
            <a:off x="13182600" y="6674627"/>
            <a:ext cx="6374606" cy="3061383"/>
          </a:xfrm>
          <a:prstGeom prst="rect">
            <a:avLst/>
          </a:prstGeom>
        </p:spPr>
      </p:pic>
      <p:sp>
        <p:nvSpPr>
          <p:cNvPr id="3" name="Rectangle 2">
            <a:extLst>
              <a:ext uri="{FF2B5EF4-FFF2-40B4-BE49-F238E27FC236}">
                <a16:creationId xmlns:a16="http://schemas.microsoft.com/office/drawing/2014/main" id="{9F81080D-B546-F12E-6564-19D8D7BA95DC}"/>
              </a:ext>
            </a:extLst>
          </p:cNvPr>
          <p:cNvSpPr/>
          <p:nvPr/>
        </p:nvSpPr>
        <p:spPr>
          <a:xfrm>
            <a:off x="461804" y="4239966"/>
            <a:ext cx="8458200" cy="563602"/>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9" name="TextBox 8">
            <a:extLst>
              <a:ext uri="{FF2B5EF4-FFF2-40B4-BE49-F238E27FC236}">
                <a16:creationId xmlns:a16="http://schemas.microsoft.com/office/drawing/2014/main" id="{0901488A-4A6A-64EE-9A55-18732688AC47}"/>
              </a:ext>
            </a:extLst>
          </p:cNvPr>
          <p:cNvSpPr txBox="1"/>
          <p:nvPr/>
        </p:nvSpPr>
        <p:spPr>
          <a:xfrm>
            <a:off x="2412206" y="4198601"/>
            <a:ext cx="41910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Abstract</a:t>
            </a:r>
          </a:p>
        </p:txBody>
      </p:sp>
      <p:sp>
        <p:nvSpPr>
          <p:cNvPr id="29" name="TextBox 28">
            <a:extLst>
              <a:ext uri="{FF2B5EF4-FFF2-40B4-BE49-F238E27FC236}">
                <a16:creationId xmlns:a16="http://schemas.microsoft.com/office/drawing/2014/main" id="{DE71F9EB-3206-D29B-67FD-29528C20DFFE}"/>
              </a:ext>
            </a:extLst>
          </p:cNvPr>
          <p:cNvSpPr txBox="1"/>
          <p:nvPr/>
        </p:nvSpPr>
        <p:spPr>
          <a:xfrm>
            <a:off x="9222603" y="4239966"/>
            <a:ext cx="11196765" cy="6740307"/>
          </a:xfrm>
          <a:prstGeom prst="rect">
            <a:avLst/>
          </a:prstGeom>
          <a:noFill/>
          <a:ln w="38100">
            <a:solidFill>
              <a:srgbClr val="FFC000"/>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Smart Shelf Circuit Diagram </a:t>
            </a: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p:txBody>
      </p:sp>
      <p:pic>
        <p:nvPicPr>
          <p:cNvPr id="31" name="Picture 30" descr="A diagram of a circuit board&#10;&#10;AI-generated content may be incorrect.">
            <a:extLst>
              <a:ext uri="{FF2B5EF4-FFF2-40B4-BE49-F238E27FC236}">
                <a16:creationId xmlns:a16="http://schemas.microsoft.com/office/drawing/2014/main" id="{85BD5147-83D0-0402-CAEC-8F3E39EC09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82557" y="5164136"/>
            <a:ext cx="9618338" cy="5586241"/>
          </a:xfrm>
          <a:prstGeom prst="rect">
            <a:avLst/>
          </a:prstGeom>
        </p:spPr>
      </p:pic>
      <p:sp>
        <p:nvSpPr>
          <p:cNvPr id="33" name="TextBox 32">
            <a:extLst>
              <a:ext uri="{FF2B5EF4-FFF2-40B4-BE49-F238E27FC236}">
                <a16:creationId xmlns:a16="http://schemas.microsoft.com/office/drawing/2014/main" id="{4B741049-6C9A-47BA-F24D-712DDD3D9A3A}"/>
              </a:ext>
            </a:extLst>
          </p:cNvPr>
          <p:cNvSpPr txBox="1"/>
          <p:nvPr/>
        </p:nvSpPr>
        <p:spPr>
          <a:xfrm>
            <a:off x="9318076" y="11456633"/>
            <a:ext cx="11101292" cy="8217634"/>
          </a:xfrm>
          <a:prstGeom prst="rect">
            <a:avLst/>
          </a:prstGeom>
          <a:noFill/>
          <a:ln w="38100">
            <a:solidFill>
              <a:srgbClr val="FFC000"/>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RESULTS </a:t>
            </a: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p:txBody>
      </p:sp>
      <p:pic>
        <p:nvPicPr>
          <p:cNvPr id="37" name="Picture 36">
            <a:extLst>
              <a:ext uri="{FF2B5EF4-FFF2-40B4-BE49-F238E27FC236}">
                <a16:creationId xmlns:a16="http://schemas.microsoft.com/office/drawing/2014/main" id="{A8D59DB7-228D-EC59-DE71-06997DEECE6B}"/>
              </a:ext>
            </a:extLst>
          </p:cNvPr>
          <p:cNvPicPr>
            <a:picLocks noChangeAspect="1"/>
          </p:cNvPicPr>
          <p:nvPr/>
        </p:nvPicPr>
        <p:blipFill>
          <a:blip r:embed="rId6"/>
          <a:stretch>
            <a:fillRect/>
          </a:stretch>
        </p:blipFill>
        <p:spPr>
          <a:xfrm>
            <a:off x="20890435" y="5228257"/>
            <a:ext cx="8644272" cy="5057619"/>
          </a:xfrm>
          <a:prstGeom prst="rect">
            <a:avLst/>
          </a:prstGeom>
        </p:spPr>
      </p:pic>
      <p:pic>
        <p:nvPicPr>
          <p:cNvPr id="42" name="Picture 41">
            <a:extLst>
              <a:ext uri="{FF2B5EF4-FFF2-40B4-BE49-F238E27FC236}">
                <a16:creationId xmlns:a16="http://schemas.microsoft.com/office/drawing/2014/main" id="{F10BDF47-29C1-FDA7-B386-BDBF36011381}"/>
              </a:ext>
            </a:extLst>
          </p:cNvPr>
          <p:cNvPicPr>
            <a:picLocks noChangeAspect="1"/>
          </p:cNvPicPr>
          <p:nvPr/>
        </p:nvPicPr>
        <p:blipFill>
          <a:blip r:embed="rId7"/>
          <a:stretch>
            <a:fillRect/>
          </a:stretch>
        </p:blipFill>
        <p:spPr>
          <a:xfrm>
            <a:off x="9536154" y="12540046"/>
            <a:ext cx="10443448" cy="6818140"/>
          </a:xfrm>
          <a:prstGeom prst="rect">
            <a:avLst/>
          </a:prstGeom>
        </p:spPr>
      </p:pic>
      <p:sp>
        <p:nvSpPr>
          <p:cNvPr id="43" name="TextBox 42">
            <a:extLst>
              <a:ext uri="{FF2B5EF4-FFF2-40B4-BE49-F238E27FC236}">
                <a16:creationId xmlns:a16="http://schemas.microsoft.com/office/drawing/2014/main" id="{6786640D-F0FA-7176-C633-961A9BCF04DC}"/>
              </a:ext>
            </a:extLst>
          </p:cNvPr>
          <p:cNvSpPr txBox="1"/>
          <p:nvPr/>
        </p:nvSpPr>
        <p:spPr>
          <a:xfrm>
            <a:off x="20817439" y="11456633"/>
            <a:ext cx="9179166" cy="3046988"/>
          </a:xfrm>
          <a:prstGeom prst="rect">
            <a:avLst/>
          </a:prstGeom>
          <a:noFill/>
          <a:ln w="28575">
            <a:solidFill>
              <a:srgbClr val="FFC000"/>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Conclusion</a:t>
            </a:r>
          </a:p>
          <a:p>
            <a:pPr algn="ctr"/>
            <a:endParaRPr lang="en-AE"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successfully integrates a modern e-commerce platform with an IoT-powered smart shelf to enhance inventory management, user experience, and operational efficiency. By combining web technologies with real-time sensor data, the system ensures accurate stock monitoring, environmental awareness, and intelligent automation — offering a practical solution for the future of digital retail.</a:t>
            </a:r>
            <a:endParaRPr lang="en-AE" sz="2400" dirty="0">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AD8EE223-FBD3-977A-C3D1-DBDC8E1ADD51}"/>
              </a:ext>
            </a:extLst>
          </p:cNvPr>
          <p:cNvSpPr txBox="1"/>
          <p:nvPr/>
        </p:nvSpPr>
        <p:spPr>
          <a:xfrm>
            <a:off x="20817438" y="14735168"/>
            <a:ext cx="9037665" cy="2677656"/>
          </a:xfrm>
          <a:prstGeom prst="rect">
            <a:avLst/>
          </a:prstGeom>
          <a:noFill/>
          <a:ln w="28575">
            <a:solidFill>
              <a:srgbClr val="FFC000"/>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Future Scope</a:t>
            </a:r>
          </a:p>
          <a:p>
            <a:pPr algn="ct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Mobile App Integration for broader accessibility and real-time alerts.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AI-based Analytics to predict demand and optimize inventory.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Voice Assistant Support for hands-free user interaction.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Multiple Shelf Support for scalable warehouse or store deployments.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Smart Alerts for abnormal temperature or stock-out conditions</a:t>
            </a:r>
            <a:endParaRPr lang="en-AE" sz="2400" dirty="0">
              <a:latin typeface="Times New Roman" panose="02020603050405020304" pitchFamily="18" charset="0"/>
              <a:cs typeface="Times New Roman" panose="02020603050405020304" pitchFamily="18" charset="0"/>
            </a:endParaRPr>
          </a:p>
        </p:txBody>
      </p:sp>
      <p:sp>
        <p:nvSpPr>
          <p:cNvPr id="45" name="Rectangle 44">
            <a:extLst>
              <a:ext uri="{FF2B5EF4-FFF2-40B4-BE49-F238E27FC236}">
                <a16:creationId xmlns:a16="http://schemas.microsoft.com/office/drawing/2014/main" id="{F617A8BD-664B-8552-FD52-6A19BC4F1CA9}"/>
              </a:ext>
            </a:extLst>
          </p:cNvPr>
          <p:cNvSpPr/>
          <p:nvPr/>
        </p:nvSpPr>
        <p:spPr>
          <a:xfrm>
            <a:off x="20817435" y="11476049"/>
            <a:ext cx="9179166" cy="587635"/>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46" name="Rectangle 45">
            <a:extLst>
              <a:ext uri="{FF2B5EF4-FFF2-40B4-BE49-F238E27FC236}">
                <a16:creationId xmlns:a16="http://schemas.microsoft.com/office/drawing/2014/main" id="{45AE8EF9-73FB-DE13-73F2-3A1BDD9EFA82}"/>
              </a:ext>
            </a:extLst>
          </p:cNvPr>
          <p:cNvSpPr/>
          <p:nvPr/>
        </p:nvSpPr>
        <p:spPr>
          <a:xfrm>
            <a:off x="20817435" y="14735168"/>
            <a:ext cx="8995973" cy="551478"/>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47" name="Rectangle 46">
            <a:extLst>
              <a:ext uri="{FF2B5EF4-FFF2-40B4-BE49-F238E27FC236}">
                <a16:creationId xmlns:a16="http://schemas.microsoft.com/office/drawing/2014/main" id="{148CC1DB-D5D3-7835-62E6-E1A4165A9133}"/>
              </a:ext>
            </a:extLst>
          </p:cNvPr>
          <p:cNvSpPr/>
          <p:nvPr/>
        </p:nvSpPr>
        <p:spPr>
          <a:xfrm>
            <a:off x="9318075" y="11456462"/>
            <a:ext cx="11101292" cy="607223"/>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48" name="Rectangle 47">
            <a:extLst>
              <a:ext uri="{FF2B5EF4-FFF2-40B4-BE49-F238E27FC236}">
                <a16:creationId xmlns:a16="http://schemas.microsoft.com/office/drawing/2014/main" id="{4B889DCF-97C0-E80B-4BAD-09865159A75E}"/>
              </a:ext>
            </a:extLst>
          </p:cNvPr>
          <p:cNvSpPr/>
          <p:nvPr/>
        </p:nvSpPr>
        <p:spPr>
          <a:xfrm>
            <a:off x="9222603" y="4237880"/>
            <a:ext cx="11196764" cy="646331"/>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49" name="Rectangle 48">
            <a:extLst>
              <a:ext uri="{FF2B5EF4-FFF2-40B4-BE49-F238E27FC236}">
                <a16:creationId xmlns:a16="http://schemas.microsoft.com/office/drawing/2014/main" id="{0EFA3CA6-3531-2A90-E5A6-8AD145E382AF}"/>
              </a:ext>
            </a:extLst>
          </p:cNvPr>
          <p:cNvSpPr/>
          <p:nvPr/>
        </p:nvSpPr>
        <p:spPr>
          <a:xfrm>
            <a:off x="469106" y="8330418"/>
            <a:ext cx="8154086" cy="563602"/>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50" name="Rectangle 49">
            <a:extLst>
              <a:ext uri="{FF2B5EF4-FFF2-40B4-BE49-F238E27FC236}">
                <a16:creationId xmlns:a16="http://schemas.microsoft.com/office/drawing/2014/main" id="{88770FB8-1E60-0C56-8661-C6BB6E65C1B4}"/>
              </a:ext>
            </a:extLst>
          </p:cNvPr>
          <p:cNvSpPr/>
          <p:nvPr/>
        </p:nvSpPr>
        <p:spPr>
          <a:xfrm>
            <a:off x="420109" y="15183676"/>
            <a:ext cx="8458200" cy="563602"/>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51" name="TextBox 50">
            <a:extLst>
              <a:ext uri="{FF2B5EF4-FFF2-40B4-BE49-F238E27FC236}">
                <a16:creationId xmlns:a16="http://schemas.microsoft.com/office/drawing/2014/main" id="{68A66F1A-652A-8F1F-EB3C-E63180451D15}"/>
              </a:ext>
            </a:extLst>
          </p:cNvPr>
          <p:cNvSpPr txBox="1"/>
          <p:nvPr/>
        </p:nvSpPr>
        <p:spPr>
          <a:xfrm>
            <a:off x="3928392" y="15163097"/>
            <a:ext cx="39624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Methods</a:t>
            </a:r>
          </a:p>
        </p:txBody>
      </p:sp>
      <p:sp>
        <p:nvSpPr>
          <p:cNvPr id="52" name="TextBox 51">
            <a:extLst>
              <a:ext uri="{FF2B5EF4-FFF2-40B4-BE49-F238E27FC236}">
                <a16:creationId xmlns:a16="http://schemas.microsoft.com/office/drawing/2014/main" id="{3D494C81-47EA-BDC8-C1C6-21F2C5AC5445}"/>
              </a:ext>
            </a:extLst>
          </p:cNvPr>
          <p:cNvSpPr txBox="1"/>
          <p:nvPr/>
        </p:nvSpPr>
        <p:spPr>
          <a:xfrm>
            <a:off x="3535019" y="8318351"/>
            <a:ext cx="2598102" cy="67710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Objectives</a:t>
            </a:r>
            <a:endParaRPr lang="en-US" sz="4000" b="1" dirty="0">
              <a:latin typeface="Times New Roman" panose="02020603050405020304" pitchFamily="18" charset="0"/>
              <a:cs typeface="Times New Roman" panose="02020603050405020304" pitchFamily="18" charset="0"/>
            </a:endParaRPr>
          </a:p>
          <a:p>
            <a:endParaRPr lang="en-AE" sz="1000" dirty="0"/>
          </a:p>
        </p:txBody>
      </p:sp>
      <p:sp>
        <p:nvSpPr>
          <p:cNvPr id="53" name="TextBox 52">
            <a:extLst>
              <a:ext uri="{FF2B5EF4-FFF2-40B4-BE49-F238E27FC236}">
                <a16:creationId xmlns:a16="http://schemas.microsoft.com/office/drawing/2014/main" id="{61D66A02-BB38-13E1-CA3C-CB485D6A2AE2}"/>
              </a:ext>
            </a:extLst>
          </p:cNvPr>
          <p:cNvSpPr txBox="1"/>
          <p:nvPr/>
        </p:nvSpPr>
        <p:spPr>
          <a:xfrm>
            <a:off x="12342812" y="4287660"/>
            <a:ext cx="49530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Smart Shelf Circuit Diagram </a:t>
            </a:r>
          </a:p>
        </p:txBody>
      </p:sp>
      <p:sp>
        <p:nvSpPr>
          <p:cNvPr id="54" name="TextBox 53">
            <a:extLst>
              <a:ext uri="{FF2B5EF4-FFF2-40B4-BE49-F238E27FC236}">
                <a16:creationId xmlns:a16="http://schemas.microsoft.com/office/drawing/2014/main" id="{94DA6ACA-CCBF-6147-2DD6-2F4AB2B74E88}"/>
              </a:ext>
            </a:extLst>
          </p:cNvPr>
          <p:cNvSpPr txBox="1"/>
          <p:nvPr/>
        </p:nvSpPr>
        <p:spPr>
          <a:xfrm>
            <a:off x="12927806" y="11456462"/>
            <a:ext cx="35052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a:t>
            </a:r>
          </a:p>
        </p:txBody>
      </p:sp>
      <p:sp>
        <p:nvSpPr>
          <p:cNvPr id="55" name="TextBox 54">
            <a:extLst>
              <a:ext uri="{FF2B5EF4-FFF2-40B4-BE49-F238E27FC236}">
                <a16:creationId xmlns:a16="http://schemas.microsoft.com/office/drawing/2014/main" id="{9E2C0D91-0AC8-085D-8CBD-4CED8C26DBF2}"/>
              </a:ext>
            </a:extLst>
          </p:cNvPr>
          <p:cNvSpPr txBox="1"/>
          <p:nvPr/>
        </p:nvSpPr>
        <p:spPr>
          <a:xfrm>
            <a:off x="20817437" y="4266396"/>
            <a:ext cx="9179169" cy="6740307"/>
          </a:xfrm>
          <a:prstGeom prst="rect">
            <a:avLst/>
          </a:prstGeom>
          <a:noFill/>
          <a:ln w="38100">
            <a:solidFill>
              <a:srgbClr val="FFC000"/>
            </a:solidFill>
          </a:ln>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RESULTS </a:t>
            </a: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AE"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3A783B0B-D6E4-035C-177E-D1285B65DEE1}"/>
              </a:ext>
            </a:extLst>
          </p:cNvPr>
          <p:cNvSpPr/>
          <p:nvPr/>
        </p:nvSpPr>
        <p:spPr>
          <a:xfrm>
            <a:off x="20817436" y="4212918"/>
            <a:ext cx="9179165" cy="646131"/>
          </a:xfrm>
          <a:prstGeom prst="rect">
            <a:avLst/>
          </a:prstGeom>
          <a:solidFill>
            <a:srgbClr val="FFC000"/>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57" name="TextBox 56">
            <a:extLst>
              <a:ext uri="{FF2B5EF4-FFF2-40B4-BE49-F238E27FC236}">
                <a16:creationId xmlns:a16="http://schemas.microsoft.com/office/drawing/2014/main" id="{33B596D3-38F2-0588-73BF-9983C9E93A3C}"/>
              </a:ext>
            </a:extLst>
          </p:cNvPr>
          <p:cNvSpPr txBox="1"/>
          <p:nvPr/>
        </p:nvSpPr>
        <p:spPr>
          <a:xfrm>
            <a:off x="24457675" y="4336623"/>
            <a:ext cx="3886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Results</a:t>
            </a:r>
            <a:endParaRPr lang="en-AE" sz="28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B9A86ECA-0DD4-D54B-6E21-70AB11121DF6}"/>
              </a:ext>
            </a:extLst>
          </p:cNvPr>
          <p:cNvSpPr txBox="1"/>
          <p:nvPr/>
        </p:nvSpPr>
        <p:spPr>
          <a:xfrm>
            <a:off x="23672006" y="14761598"/>
            <a:ext cx="29718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Future Scopes</a:t>
            </a:r>
            <a:endParaRPr lang="en-AE" sz="2800" b="1"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25FE1B2F-1FED-7A72-EA90-FEA1B83B1EAE}"/>
              </a:ext>
            </a:extLst>
          </p:cNvPr>
          <p:cNvSpPr txBox="1"/>
          <p:nvPr/>
        </p:nvSpPr>
        <p:spPr>
          <a:xfrm>
            <a:off x="23769234" y="11441265"/>
            <a:ext cx="27051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Conclusion</a:t>
            </a:r>
            <a:endParaRPr lang="en-AE"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011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2823</TotalTime>
  <Words>1040</Words>
  <Application>Microsoft Office PowerPoint</Application>
  <PresentationFormat>Custom</PresentationFormat>
  <Paragraphs>134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Banafsha Quadri Rajput</dc:creator>
  <cp:lastModifiedBy>.. ..</cp:lastModifiedBy>
  <cp:revision>41</cp:revision>
  <cp:lastPrinted>2019-09-16T07:16:09Z</cp:lastPrinted>
  <dcterms:created xsi:type="dcterms:W3CDTF">2019-09-15T18:12:19Z</dcterms:created>
  <dcterms:modified xsi:type="dcterms:W3CDTF">2025-05-22T07:53:41Z</dcterms:modified>
</cp:coreProperties>
</file>